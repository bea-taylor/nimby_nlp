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4" r:id="rId2"/>
    <p:sldId id="335" r:id="rId3"/>
    <p:sldId id="337" r:id="rId4"/>
    <p:sldId id="33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8686"/>
    <a:srgbClr val="894D9F"/>
    <a:srgbClr val="C089D2"/>
    <a:srgbClr val="D3D3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50"/>
    <p:restoredTop sz="94610"/>
  </p:normalViewPr>
  <p:slideViewPr>
    <p:cSldViewPr snapToGrid="0">
      <p:cViewPr>
        <p:scale>
          <a:sx n="110" d="100"/>
          <a:sy n="110" d="100"/>
        </p:scale>
        <p:origin x="24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701B9-83EE-286A-D180-179969CB27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1A68-1168-4663-E30B-D30540AE81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366AC-2CBD-6C66-EA25-A7BB9CE4E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79A6B-8A37-FFE8-3AB9-6F2033747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20B13-66A9-E6D2-84D9-7E5C11B7D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840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3F64F-1DD1-240D-E013-629363818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830E1-2B79-83EF-58D9-311D87EEC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632A60-1C43-52B4-FC18-47D12573A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9C510-397B-01BC-3BE3-B51072FE0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4ECDE-0CBB-6823-0A19-96CC4B100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10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C9EEA-3EF4-D9B1-E629-F9E138176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49FC5-2EEC-E881-D966-AA00673B2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1F8CD-BED9-0BED-1C72-AD49AF8C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F21DB-8661-9E91-7A49-B87B63725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99A46-07B5-D4E0-E7F4-6832E359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243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07AE0-F78E-42B0-6D5B-F55C5EC40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AA657-E48F-7677-A0E5-B49F0D2EC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416F6-0006-9D01-8D8F-CAA2C02CCA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B8E4F-525E-7DCE-6142-6B549B50D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835EFA-9A0A-A880-0DBC-AD09C4856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BB2342-4BC1-522B-904F-12CC49602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169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8117A-2F31-EADE-47DA-123614668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BBA3A7-6E4D-8921-51DF-E91C73D2C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3F7F66-2F68-26C5-877C-B39AA4206F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04173D-942D-AA54-C0D8-BD371F265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FA4248-993F-F8C0-3495-8382192B1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8EE8B3-F656-888B-3F0D-2B77E6BF5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9AABE5-BAAF-8B20-1D2F-F9F5F2A5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D60598-83E6-E456-F5FF-05AD4D18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189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532C5-3866-3666-A16D-FC823C6F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538675-A10D-570B-47B9-D408F36EE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9DBBC-A6C6-4EE5-95A5-7A94E47CB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B01B30-0BF2-6146-FED9-B3A665C78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550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2617B-C0F7-687D-1A7F-4EFF02DF4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A9885E-91BA-6CD5-98EF-30E3EA85A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EA1EC-5580-722C-D9EF-78FE428BE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52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D6B11-34A3-CDEE-2794-6A360CFAE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AA016-E0C0-D69C-B37C-3C16BDCF5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4BCE07-9402-03DE-4F67-BEBA50E8D4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32DB47-1A29-8F11-DEE3-5F71E3995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9FBAB-6259-EF73-72A5-8140192E1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15BE92-5EA8-D856-DF54-60B6CFB8B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3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6375-3821-F534-2635-76D97E69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D4EF37-0AB5-E052-F08A-A1D4970C17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09DC8D-8E0E-AF11-2978-A33236931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76A85-71F3-B164-C0FE-4C897BAA8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17B07-F3C8-98A3-BD8D-0C309A4D1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68631-A807-D6B9-974C-582835018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42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E582E-B367-F231-4DC0-BFF7C2E31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127EE3-2482-2BF3-23B9-D7CFA1246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A778BC-7EBE-78C5-7505-03CF0F06D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6833A-28A7-7EB1-7121-127269F6E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86508-8058-2C1E-2B6B-F18D4B385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649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F60B62-0274-8E0C-033F-55BF4FD666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437842-9CCF-D004-5B87-F61A31F97F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A2099-C3BE-A2F3-2FE0-ECAF9C342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F40167-CBE2-B3B1-4484-D2A9A6921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B80B7-D45D-5BE5-73EE-FB144F5AF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200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UCL single text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Headline" descr="Headline">
            <a:extLst>
              <a:ext uri="{FF2B5EF4-FFF2-40B4-BE49-F238E27FC236}">
                <a16:creationId xmlns:a16="http://schemas.microsoft.com/office/drawing/2014/main" id="{D136E2B9-C028-5142-BBB3-807BD19349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899999"/>
            <a:ext cx="8999900" cy="1368000"/>
          </a:xfrm>
        </p:spPr>
        <p:txBody>
          <a:bodyPr/>
          <a:lstStyle/>
          <a:p>
            <a:r>
              <a:rPr lang="en-US" dirty="0"/>
              <a:t>Main headline, Arial 44pt bold</a:t>
            </a:r>
          </a:p>
        </p:txBody>
      </p:sp>
      <p:sp>
        <p:nvSpPr>
          <p:cNvPr id="12" name="Text" descr="Text">
            <a:extLst>
              <a:ext uri="{FF2B5EF4-FFF2-40B4-BE49-F238E27FC236}">
                <a16:creationId xmlns:a16="http://schemas.microsoft.com/office/drawing/2014/main" id="{52E39625-6121-A140-A00B-27BF9DA232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000" y="2412000"/>
            <a:ext cx="10439064" cy="3600000"/>
          </a:xfrm>
        </p:spPr>
        <p:txBody>
          <a:bodyPr/>
          <a:lstStyle>
            <a:lvl1pPr marL="225425" marR="0" indent="-225425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400"/>
            </a:lvl1pPr>
            <a:lvl2pPr marL="222250" indent="-222250">
              <a:buFont typeface="Arial" panose="020B0604020202020204" pitchFamily="34" charset="0"/>
              <a:buChar char="•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EAF8-165C-2D4A-9B32-495E40A07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478F44-CA4B-8F47-8400-2C19AC9A20AB}" type="datetimeFigureOut">
              <a:rPr lang="en-US" smtClean="0"/>
              <a:pPr>
                <a:defRPr/>
              </a:pPr>
              <a:t>2/24/26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BBB3CA-848C-EF44-BEE5-EB67145F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B6E47-510B-8542-8D2A-81F475B8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8DF897-BF7D-364E-94C4-DBD7D61CD3A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767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BC01DF-2F50-AAA5-CE35-6B2E74634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7E7105-85DF-9B0D-69F2-6A465555C2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45F5C-A512-B4A9-ED4D-886287193D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DD9ABC-66B6-7D48-895A-91141157335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8AA3F-AD24-672A-EF14-8F8B28DB79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B2C14D-CC45-15A7-1EA8-5744F471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C6B525-D5B7-2142-9CA7-005B2ED968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724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Rounded Rectangle 1050">
            <a:extLst>
              <a:ext uri="{FF2B5EF4-FFF2-40B4-BE49-F238E27FC236}">
                <a16:creationId xmlns:a16="http://schemas.microsoft.com/office/drawing/2014/main" id="{103A1500-B4BF-19EE-5A17-F022BF78209B}"/>
              </a:ext>
            </a:extLst>
          </p:cNvPr>
          <p:cNvSpPr/>
          <p:nvPr/>
        </p:nvSpPr>
        <p:spPr>
          <a:xfrm>
            <a:off x="7081234" y="5096063"/>
            <a:ext cx="1482815" cy="995863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1048" name="Rounded Rectangle 1047">
            <a:extLst>
              <a:ext uri="{FF2B5EF4-FFF2-40B4-BE49-F238E27FC236}">
                <a16:creationId xmlns:a16="http://schemas.microsoft.com/office/drawing/2014/main" id="{1EA7E0EA-9EFB-39CC-57F4-38E0F657209E}"/>
              </a:ext>
            </a:extLst>
          </p:cNvPr>
          <p:cNvSpPr/>
          <p:nvPr/>
        </p:nvSpPr>
        <p:spPr>
          <a:xfrm>
            <a:off x="7081234" y="3964460"/>
            <a:ext cx="1482815" cy="995863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E60C9415-8CB4-675C-C628-F2B29DF18ECD}"/>
              </a:ext>
            </a:extLst>
          </p:cNvPr>
          <p:cNvSpPr/>
          <p:nvPr/>
        </p:nvSpPr>
        <p:spPr>
          <a:xfrm>
            <a:off x="9432324" y="1064049"/>
            <a:ext cx="1499287" cy="5027877"/>
          </a:xfrm>
          <a:prstGeom prst="round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24D3A915-EB40-2A4E-FA99-0DAF91E21F6E}"/>
              </a:ext>
            </a:extLst>
          </p:cNvPr>
          <p:cNvSpPr/>
          <p:nvPr/>
        </p:nvSpPr>
        <p:spPr>
          <a:xfrm>
            <a:off x="1067608" y="1191056"/>
            <a:ext cx="3847065" cy="850047"/>
          </a:xfrm>
          <a:prstGeom prst="rect">
            <a:avLst/>
          </a:prstGeom>
          <a:solidFill>
            <a:srgbClr val="D3D3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CEEAC210-C719-B1CB-89F3-E7554E83CC22}"/>
              </a:ext>
            </a:extLst>
          </p:cNvPr>
          <p:cNvSpPr/>
          <p:nvPr/>
        </p:nvSpPr>
        <p:spPr>
          <a:xfrm>
            <a:off x="3032907" y="2497245"/>
            <a:ext cx="1253965" cy="708229"/>
          </a:xfrm>
          <a:prstGeom prst="parallelogram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comment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64B8F-98B0-71AF-1944-5AA1C6D8EF56}"/>
              </a:ext>
            </a:extLst>
          </p:cNvPr>
          <p:cNvSpPr/>
          <p:nvPr/>
        </p:nvSpPr>
        <p:spPr>
          <a:xfrm>
            <a:off x="9643262" y="5096063"/>
            <a:ext cx="1102679" cy="788229"/>
          </a:xfrm>
          <a:prstGeom prst="rect">
            <a:avLst/>
          </a:prstGeom>
          <a:solidFill>
            <a:srgbClr val="D3D3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socioeconomic variables</a:t>
            </a: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7928254C-BCD8-9C33-ED24-5BD1A96902C2}"/>
              </a:ext>
            </a:extLst>
          </p:cNvPr>
          <p:cNvSpPr/>
          <p:nvPr/>
        </p:nvSpPr>
        <p:spPr>
          <a:xfrm>
            <a:off x="9625596" y="1248059"/>
            <a:ext cx="1120345" cy="714460"/>
          </a:xfrm>
          <a:prstGeom prst="parallelogram">
            <a:avLst/>
          </a:prstGeom>
          <a:solidFill>
            <a:srgbClr val="D3D3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topics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C6615DC-9F07-54A2-3249-DC50991457D5}"/>
              </a:ext>
            </a:extLst>
          </p:cNvPr>
          <p:cNvSpPr/>
          <p:nvPr/>
        </p:nvSpPr>
        <p:spPr>
          <a:xfrm>
            <a:off x="9629381" y="2266347"/>
            <a:ext cx="1102678" cy="657567"/>
          </a:xfrm>
          <a:prstGeom prst="parallelogram">
            <a:avLst/>
          </a:prstGeom>
          <a:solidFill>
            <a:srgbClr val="D3D3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sentiment scores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828165-6B9E-757A-D2D0-28108FE62420}"/>
              </a:ext>
            </a:extLst>
          </p:cNvPr>
          <p:cNvSpPr/>
          <p:nvPr/>
        </p:nvSpPr>
        <p:spPr>
          <a:xfrm>
            <a:off x="8036149" y="2285490"/>
            <a:ext cx="1102678" cy="657567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sentiment model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3C175E-FAA9-D50C-CE34-4DAABD5BA875}"/>
              </a:ext>
            </a:extLst>
          </p:cNvPr>
          <p:cNvSpPr/>
          <p:nvPr/>
        </p:nvSpPr>
        <p:spPr>
          <a:xfrm>
            <a:off x="6642573" y="1263739"/>
            <a:ext cx="1120345" cy="714460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topic 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D6D8A4-B967-B85E-B9C0-3C601A9CA2C6}"/>
              </a:ext>
            </a:extLst>
          </p:cNvPr>
          <p:cNvSpPr/>
          <p:nvPr/>
        </p:nvSpPr>
        <p:spPr>
          <a:xfrm>
            <a:off x="1171914" y="1304135"/>
            <a:ext cx="1074523" cy="623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chunk</a:t>
            </a: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5C4227DA-501C-2BF4-0A1B-F279654A9CA5}"/>
              </a:ext>
            </a:extLst>
          </p:cNvPr>
          <p:cNvSpPr/>
          <p:nvPr/>
        </p:nvSpPr>
        <p:spPr>
          <a:xfrm>
            <a:off x="9629381" y="3288682"/>
            <a:ext cx="1102678" cy="637145"/>
          </a:xfrm>
          <a:prstGeom prst="parallelogram">
            <a:avLst/>
          </a:prstGeom>
          <a:solidFill>
            <a:srgbClr val="D3D3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co-ordinates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EF2742-6D43-BE71-A76B-0BF2A6408E83}"/>
              </a:ext>
            </a:extLst>
          </p:cNvPr>
          <p:cNvSpPr/>
          <p:nvPr/>
        </p:nvSpPr>
        <p:spPr>
          <a:xfrm>
            <a:off x="2364340" y="1309342"/>
            <a:ext cx="1225377" cy="623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generate soft-labelled set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5E7B67-F1B0-347C-045E-C1053587E298}"/>
              </a:ext>
            </a:extLst>
          </p:cNvPr>
          <p:cNvSpPr/>
          <p:nvPr/>
        </p:nvSpPr>
        <p:spPr>
          <a:xfrm>
            <a:off x="3703502" y="1304135"/>
            <a:ext cx="1074523" cy="623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train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D4463-C216-D97D-CDFC-6C3C43B711D1}"/>
              </a:ext>
            </a:extLst>
          </p:cNvPr>
          <p:cNvSpPr txBox="1"/>
          <p:nvPr/>
        </p:nvSpPr>
        <p:spPr>
          <a:xfrm>
            <a:off x="1022022" y="950586"/>
            <a:ext cx="10663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weak learning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B171BA1-299A-CB16-6F72-AC241AB108AF}"/>
              </a:ext>
            </a:extLst>
          </p:cNvPr>
          <p:cNvSpPr/>
          <p:nvPr/>
        </p:nvSpPr>
        <p:spPr>
          <a:xfrm>
            <a:off x="802583" y="2538086"/>
            <a:ext cx="1482815" cy="995863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E3F107-D569-FD11-EE62-21D73895053C}"/>
              </a:ext>
            </a:extLst>
          </p:cNvPr>
          <p:cNvSpPr txBox="1"/>
          <p:nvPr/>
        </p:nvSpPr>
        <p:spPr>
          <a:xfrm>
            <a:off x="755128" y="2530996"/>
            <a:ext cx="155475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community </a:t>
            </a: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comments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54FD98-94BB-E951-E3D9-CB21409A20B0}"/>
              </a:ext>
            </a:extLst>
          </p:cNvPr>
          <p:cNvSpPr txBox="1"/>
          <p:nvPr/>
        </p:nvSpPr>
        <p:spPr>
          <a:xfrm>
            <a:off x="755128" y="2734938"/>
            <a:ext cx="1554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i="1" dirty="0">
                <a:solidFill>
                  <a:srgbClr val="F657C9"/>
                </a:solidFill>
                <a:latin typeface="AngsanaUPC" panose="020B0604020202020204" pitchFamily="34" charset="0"/>
                <a:cs typeface="AngsanaUPC" panose="020B0604020202020204" pitchFamily="34" charset="0"/>
              </a:rPr>
              <a:t>web-scraped</a:t>
            </a:r>
            <a:endParaRPr lang="en-US" sz="2800" dirty="0">
              <a:solidFill>
                <a:srgbClr val="F657C9"/>
              </a:solidFill>
            </a:endParaRPr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BF314405-7671-40CB-00AB-87CAAF773413}"/>
              </a:ext>
            </a:extLst>
          </p:cNvPr>
          <p:cNvCxnSpPr>
            <a:cxnSpLocks/>
            <a:endCxn id="12" idx="5"/>
          </p:cNvCxnSpPr>
          <p:nvPr/>
        </p:nvCxnSpPr>
        <p:spPr>
          <a:xfrm>
            <a:off x="2258263" y="3185885"/>
            <a:ext cx="7450761" cy="421370"/>
          </a:xfrm>
          <a:prstGeom prst="bentConnector3">
            <a:avLst>
              <a:gd name="adj1" fmla="val 6646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65" descr="A logo with colorful dots and lines&#10;&#10;AI-generated content may be incorrect.">
            <a:extLst>
              <a:ext uri="{FF2B5EF4-FFF2-40B4-BE49-F238E27FC236}">
                <a16:creationId xmlns:a16="http://schemas.microsoft.com/office/drawing/2014/main" id="{25251E43-FDF5-81AA-A18C-0DCB7A78E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746" y="4069040"/>
            <a:ext cx="1256270" cy="802617"/>
          </a:xfrm>
          <a:prstGeom prst="rect">
            <a:avLst/>
          </a:prstGeom>
          <a:ln>
            <a:noFill/>
          </a:ln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917F0CC4-5557-4055-2EA8-E6580A8FB9C8}"/>
              </a:ext>
            </a:extLst>
          </p:cNvPr>
          <p:cNvSpPr/>
          <p:nvPr/>
        </p:nvSpPr>
        <p:spPr>
          <a:xfrm>
            <a:off x="8036149" y="1265546"/>
            <a:ext cx="1120345" cy="714460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manual topic reduction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A9C3361-3340-01EF-FA37-2ED99CFA513B}"/>
              </a:ext>
            </a:extLst>
          </p:cNvPr>
          <p:cNvSpPr/>
          <p:nvPr/>
        </p:nvSpPr>
        <p:spPr>
          <a:xfrm>
            <a:off x="9643263" y="4212485"/>
            <a:ext cx="1102678" cy="637145"/>
          </a:xfrm>
          <a:prstGeom prst="rect">
            <a:avLst/>
          </a:prstGeom>
          <a:solidFill>
            <a:srgbClr val="D3D3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details of planning application</a:t>
            </a:r>
          </a:p>
        </p:txBody>
      </p:sp>
      <p:sp>
        <p:nvSpPr>
          <p:cNvPr id="139" name="Parallelogram 138">
            <a:extLst>
              <a:ext uri="{FF2B5EF4-FFF2-40B4-BE49-F238E27FC236}">
                <a16:creationId xmlns:a16="http://schemas.microsoft.com/office/drawing/2014/main" id="{892A16F9-E901-5F06-7297-DB88D48721E3}"/>
              </a:ext>
            </a:extLst>
          </p:cNvPr>
          <p:cNvSpPr/>
          <p:nvPr/>
        </p:nvSpPr>
        <p:spPr>
          <a:xfrm>
            <a:off x="2428492" y="4163944"/>
            <a:ext cx="1286396" cy="719883"/>
          </a:xfrm>
          <a:prstGeom prst="parallelogram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planning application IDs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F58137B-12A3-98A6-4D7E-87E027D31F54}"/>
              </a:ext>
            </a:extLst>
          </p:cNvPr>
          <p:cNvSpPr/>
          <p:nvPr/>
        </p:nvSpPr>
        <p:spPr>
          <a:xfrm>
            <a:off x="985662" y="4233517"/>
            <a:ext cx="1102678" cy="637145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web-scraping pipeline</a:t>
            </a:r>
          </a:p>
        </p:txBody>
      </p:sp>
      <p:pic>
        <p:nvPicPr>
          <p:cNvPr id="1026" name="Picture 2" descr="2021–2022 United Kingdom censuses - Wikipedia">
            <a:extLst>
              <a:ext uri="{FF2B5EF4-FFF2-40B4-BE49-F238E27FC236}">
                <a16:creationId xmlns:a16="http://schemas.microsoft.com/office/drawing/2014/main" id="{2C41C9C5-30EF-C01A-0167-602BF713A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3728" y="5370563"/>
            <a:ext cx="1123349" cy="443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5" name="Elbow Connector 174">
            <a:extLst>
              <a:ext uri="{FF2B5EF4-FFF2-40B4-BE49-F238E27FC236}">
                <a16:creationId xmlns:a16="http://schemas.microsoft.com/office/drawing/2014/main" id="{D7367209-679A-996D-F1CA-2B62E0F3235A}"/>
              </a:ext>
            </a:extLst>
          </p:cNvPr>
          <p:cNvCxnSpPr>
            <a:cxnSpLocks/>
            <a:stCxn id="1036" idx="0"/>
            <a:endCxn id="172" idx="1"/>
          </p:cNvCxnSpPr>
          <p:nvPr/>
        </p:nvCxnSpPr>
        <p:spPr>
          <a:xfrm rot="16200000" flipV="1">
            <a:off x="2650466" y="33222"/>
            <a:ext cx="908716" cy="4074432"/>
          </a:xfrm>
          <a:prstGeom prst="bentConnector4">
            <a:avLst>
              <a:gd name="adj1" fmla="val 26614"/>
              <a:gd name="adj2" fmla="val 10561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313C56FB-08CB-2E5C-5209-5B7E3ECFDF0B}"/>
              </a:ext>
            </a:extLst>
          </p:cNvPr>
          <p:cNvSpPr txBox="1"/>
          <p:nvPr/>
        </p:nvSpPr>
        <p:spPr>
          <a:xfrm rot="16200000">
            <a:off x="10056864" y="4913522"/>
            <a:ext cx="19659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variables used in analysis</a:t>
            </a: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969CCDB6-3629-F7A0-666B-F55AD784A397}"/>
              </a:ext>
            </a:extLst>
          </p:cNvPr>
          <p:cNvSpPr txBox="1"/>
          <p:nvPr/>
        </p:nvSpPr>
        <p:spPr>
          <a:xfrm>
            <a:off x="7082733" y="1064050"/>
            <a:ext cx="7601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BERTopic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7F4062D7-4436-A5DF-01A4-BE35F0586E6D}"/>
              </a:ext>
            </a:extLst>
          </p:cNvPr>
          <p:cNvSpPr txBox="1"/>
          <p:nvPr/>
        </p:nvSpPr>
        <p:spPr>
          <a:xfrm>
            <a:off x="8036149" y="2094510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All-MiniLM-L6-v2</a:t>
            </a:r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31BFF34D-4668-62E9-78A4-6DAB3DA5272A}"/>
              </a:ext>
            </a:extLst>
          </p:cNvPr>
          <p:cNvSpPr/>
          <p:nvPr/>
        </p:nvSpPr>
        <p:spPr>
          <a:xfrm>
            <a:off x="4590701" y="2524796"/>
            <a:ext cx="1102678" cy="657567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remove names and addresses</a:t>
            </a: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AF703BEB-A54F-E960-2B8E-F88DABE8B4DE}"/>
              </a:ext>
            </a:extLst>
          </p:cNvPr>
          <p:cNvSpPr txBox="1"/>
          <p:nvPr/>
        </p:nvSpPr>
        <p:spPr>
          <a:xfrm>
            <a:off x="5340573" y="234109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NER</a:t>
            </a:r>
          </a:p>
        </p:txBody>
      </p:sp>
      <p:sp>
        <p:nvSpPr>
          <p:cNvPr id="2" name="Parallelogram 1">
            <a:extLst>
              <a:ext uri="{FF2B5EF4-FFF2-40B4-BE49-F238E27FC236}">
                <a16:creationId xmlns:a16="http://schemas.microsoft.com/office/drawing/2014/main" id="{6DF9B8FA-E869-08D4-A23D-576A7C1CA99B}"/>
              </a:ext>
            </a:extLst>
          </p:cNvPr>
          <p:cNvSpPr/>
          <p:nvPr/>
        </p:nvSpPr>
        <p:spPr>
          <a:xfrm>
            <a:off x="5134753" y="1252042"/>
            <a:ext cx="1253965" cy="708229"/>
          </a:xfrm>
          <a:prstGeom prst="parallelogram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fine-tuned sentence transformer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D388D7-49DA-3641-6DB2-16F611C85E7D}"/>
              </a:ext>
            </a:extLst>
          </p:cNvPr>
          <p:cNvCxnSpPr>
            <a:cxnSpLocks/>
          </p:cNvCxnSpPr>
          <p:nvPr/>
        </p:nvCxnSpPr>
        <p:spPr>
          <a:xfrm>
            <a:off x="8564049" y="4523886"/>
            <a:ext cx="103960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20CDCB5-5715-AB5D-B2E9-42660D1DD66B}"/>
              </a:ext>
            </a:extLst>
          </p:cNvPr>
          <p:cNvCxnSpPr>
            <a:cxnSpLocks/>
          </p:cNvCxnSpPr>
          <p:nvPr/>
        </p:nvCxnSpPr>
        <p:spPr>
          <a:xfrm>
            <a:off x="8573557" y="5492007"/>
            <a:ext cx="103960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2C5222-DEC6-25D3-814D-DC003357550A}"/>
              </a:ext>
            </a:extLst>
          </p:cNvPr>
          <p:cNvCxnSpPr>
            <a:cxnSpLocks/>
          </p:cNvCxnSpPr>
          <p:nvPr/>
        </p:nvCxnSpPr>
        <p:spPr>
          <a:xfrm flipH="1">
            <a:off x="3610143" y="4523886"/>
            <a:ext cx="34641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1F83FE5-6E62-5716-F46F-DEC43EC53EC9}"/>
              </a:ext>
            </a:extLst>
          </p:cNvPr>
          <p:cNvCxnSpPr>
            <a:cxnSpLocks/>
          </p:cNvCxnSpPr>
          <p:nvPr/>
        </p:nvCxnSpPr>
        <p:spPr>
          <a:xfrm flipH="1">
            <a:off x="2052512" y="4531058"/>
            <a:ext cx="4860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9B2E84F-3B6C-7E83-DF0E-0CA269759799}"/>
              </a:ext>
            </a:extLst>
          </p:cNvPr>
          <p:cNvCxnSpPr>
            <a:cxnSpLocks/>
          </p:cNvCxnSpPr>
          <p:nvPr/>
        </p:nvCxnSpPr>
        <p:spPr>
          <a:xfrm flipV="1">
            <a:off x="1537001" y="3533949"/>
            <a:ext cx="0" cy="7189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4B578E2-DA23-0A90-D25B-59E20A79E887}"/>
              </a:ext>
            </a:extLst>
          </p:cNvPr>
          <p:cNvCxnSpPr/>
          <p:nvPr/>
        </p:nvCxnSpPr>
        <p:spPr>
          <a:xfrm>
            <a:off x="2285398" y="2820788"/>
            <a:ext cx="83978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31BDF77-CFAD-F429-AD36-3098189C411E}"/>
              </a:ext>
            </a:extLst>
          </p:cNvPr>
          <p:cNvCxnSpPr>
            <a:cxnSpLocks/>
          </p:cNvCxnSpPr>
          <p:nvPr/>
        </p:nvCxnSpPr>
        <p:spPr>
          <a:xfrm>
            <a:off x="4189823" y="2829225"/>
            <a:ext cx="400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952B0FC5-88E4-03A5-BBC3-189C4D26212F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5664854" y="1978199"/>
            <a:ext cx="1537892" cy="70552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CD8C70C-2F65-133C-B597-448831871E4A}"/>
              </a:ext>
            </a:extLst>
          </p:cNvPr>
          <p:cNvCxnSpPr>
            <a:cxnSpLocks/>
          </p:cNvCxnSpPr>
          <p:nvPr/>
        </p:nvCxnSpPr>
        <p:spPr>
          <a:xfrm>
            <a:off x="5664854" y="2606163"/>
            <a:ext cx="2428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2E4537F-C57D-84B4-F6E2-DC58A2BC7516}"/>
              </a:ext>
            </a:extLst>
          </p:cNvPr>
          <p:cNvCxnSpPr>
            <a:cxnSpLocks/>
          </p:cNvCxnSpPr>
          <p:nvPr/>
        </p:nvCxnSpPr>
        <p:spPr>
          <a:xfrm>
            <a:off x="9123364" y="2609414"/>
            <a:ext cx="61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BE5E22-8088-3FAF-05ED-4088C49A4DFC}"/>
              </a:ext>
            </a:extLst>
          </p:cNvPr>
          <p:cNvCxnSpPr>
            <a:cxnSpLocks/>
          </p:cNvCxnSpPr>
          <p:nvPr/>
        </p:nvCxnSpPr>
        <p:spPr>
          <a:xfrm>
            <a:off x="9123364" y="1659985"/>
            <a:ext cx="61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DF647DE-1703-1D16-B170-DAB84C4D5FCF}"/>
              </a:ext>
            </a:extLst>
          </p:cNvPr>
          <p:cNvCxnSpPr>
            <a:cxnSpLocks/>
          </p:cNvCxnSpPr>
          <p:nvPr/>
        </p:nvCxnSpPr>
        <p:spPr>
          <a:xfrm>
            <a:off x="7699911" y="1634701"/>
            <a:ext cx="400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DB3EB69B-CF5C-65CA-ABAC-D1E8A20C9E4B}"/>
              </a:ext>
            </a:extLst>
          </p:cNvPr>
          <p:cNvCxnSpPr>
            <a:cxnSpLocks/>
          </p:cNvCxnSpPr>
          <p:nvPr/>
        </p:nvCxnSpPr>
        <p:spPr>
          <a:xfrm>
            <a:off x="6265233" y="1634701"/>
            <a:ext cx="400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2F9ACF-4AD3-77BD-558B-D35DE0D8C1BC}"/>
              </a:ext>
            </a:extLst>
          </p:cNvPr>
          <p:cNvCxnSpPr>
            <a:cxnSpLocks/>
          </p:cNvCxnSpPr>
          <p:nvPr/>
        </p:nvCxnSpPr>
        <p:spPr>
          <a:xfrm>
            <a:off x="4884856" y="1625167"/>
            <a:ext cx="400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1908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41C3F-DCA7-2BB3-1E00-9E6E788E6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986B013-D7DF-3AF5-0332-6B2F483132CB}"/>
              </a:ext>
            </a:extLst>
          </p:cNvPr>
          <p:cNvGrpSpPr/>
          <p:nvPr/>
        </p:nvGrpSpPr>
        <p:grpSpPr>
          <a:xfrm>
            <a:off x="755128" y="950586"/>
            <a:ext cx="10423217" cy="5141340"/>
            <a:chOff x="755128" y="950586"/>
            <a:chExt cx="10423217" cy="5141340"/>
          </a:xfrm>
        </p:grpSpPr>
        <p:sp>
          <p:nvSpPr>
            <p:cNvPr id="1051" name="Rounded Rectangle 1050">
              <a:extLst>
                <a:ext uri="{FF2B5EF4-FFF2-40B4-BE49-F238E27FC236}">
                  <a16:creationId xmlns:a16="http://schemas.microsoft.com/office/drawing/2014/main" id="{72FC8C25-BC7F-C793-F745-EFCB640FE2C8}"/>
                </a:ext>
              </a:extLst>
            </p:cNvPr>
            <p:cNvSpPr/>
            <p:nvPr/>
          </p:nvSpPr>
          <p:spPr>
            <a:xfrm>
              <a:off x="7081234" y="5096063"/>
              <a:ext cx="1482815" cy="995863"/>
            </a:xfrm>
            <a:prstGeom prst="round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sp>
          <p:nvSpPr>
            <p:cNvPr id="1048" name="Rounded Rectangle 1047">
              <a:extLst>
                <a:ext uri="{FF2B5EF4-FFF2-40B4-BE49-F238E27FC236}">
                  <a16:creationId xmlns:a16="http://schemas.microsoft.com/office/drawing/2014/main" id="{F8BC8246-193B-9CFB-CEA3-AB3F6525CDDD}"/>
                </a:ext>
              </a:extLst>
            </p:cNvPr>
            <p:cNvSpPr/>
            <p:nvPr/>
          </p:nvSpPr>
          <p:spPr>
            <a:xfrm>
              <a:off x="7081234" y="3964460"/>
              <a:ext cx="1482815" cy="995863"/>
            </a:xfrm>
            <a:prstGeom prst="round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sp>
          <p:nvSpPr>
            <p:cNvPr id="182" name="Rounded Rectangle 181">
              <a:extLst>
                <a:ext uri="{FF2B5EF4-FFF2-40B4-BE49-F238E27FC236}">
                  <a16:creationId xmlns:a16="http://schemas.microsoft.com/office/drawing/2014/main" id="{F0439A7F-6812-D971-F389-95C059955B4B}"/>
                </a:ext>
              </a:extLst>
            </p:cNvPr>
            <p:cNvSpPr/>
            <p:nvPr/>
          </p:nvSpPr>
          <p:spPr>
            <a:xfrm>
              <a:off x="9432324" y="1064049"/>
              <a:ext cx="1499287" cy="5027877"/>
            </a:xfrm>
            <a:prstGeom prst="round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F695777-B97A-A609-370F-32CE2DF0257C}"/>
                </a:ext>
              </a:extLst>
            </p:cNvPr>
            <p:cNvSpPr/>
            <p:nvPr/>
          </p:nvSpPr>
          <p:spPr>
            <a:xfrm>
              <a:off x="1067608" y="1191056"/>
              <a:ext cx="3847065" cy="850047"/>
            </a:xfrm>
            <a:prstGeom prst="rect">
              <a:avLst/>
            </a:prstGeom>
            <a:solidFill>
              <a:srgbClr val="D3D3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5" name="Parallelogram 4">
              <a:extLst>
                <a:ext uri="{FF2B5EF4-FFF2-40B4-BE49-F238E27FC236}">
                  <a16:creationId xmlns:a16="http://schemas.microsoft.com/office/drawing/2014/main" id="{1E15B84A-3C6E-108F-5973-85C4B2DD1F53}"/>
                </a:ext>
              </a:extLst>
            </p:cNvPr>
            <p:cNvSpPr/>
            <p:nvPr/>
          </p:nvSpPr>
          <p:spPr>
            <a:xfrm>
              <a:off x="3032907" y="2497245"/>
              <a:ext cx="1253965" cy="708229"/>
            </a:xfrm>
            <a:prstGeom prst="parallelogram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comment text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33618DC-E886-3159-410E-7B4D6ECC95E0}"/>
                </a:ext>
              </a:extLst>
            </p:cNvPr>
            <p:cNvSpPr/>
            <p:nvPr/>
          </p:nvSpPr>
          <p:spPr>
            <a:xfrm>
              <a:off x="9643262" y="5096063"/>
              <a:ext cx="1102679" cy="788229"/>
            </a:xfrm>
            <a:prstGeom prst="rect">
              <a:avLst/>
            </a:prstGeom>
            <a:solidFill>
              <a:srgbClr val="D3D3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socioeconomic variables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AB2B57EF-1444-79FE-BAA0-17299102BFFF}"/>
                </a:ext>
              </a:extLst>
            </p:cNvPr>
            <p:cNvSpPr/>
            <p:nvPr/>
          </p:nvSpPr>
          <p:spPr>
            <a:xfrm>
              <a:off x="9625596" y="1248059"/>
              <a:ext cx="1120345" cy="714460"/>
            </a:xfrm>
            <a:prstGeom prst="parallelogram">
              <a:avLst/>
            </a:prstGeom>
            <a:solidFill>
              <a:srgbClr val="D3D3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topics</a:t>
              </a:r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96EFACC-C670-8021-35DF-1BE5B95A3C1C}"/>
                </a:ext>
              </a:extLst>
            </p:cNvPr>
            <p:cNvSpPr/>
            <p:nvPr/>
          </p:nvSpPr>
          <p:spPr>
            <a:xfrm>
              <a:off x="9629381" y="2266347"/>
              <a:ext cx="1102678" cy="657567"/>
            </a:xfrm>
            <a:prstGeom prst="parallelogram">
              <a:avLst/>
            </a:prstGeom>
            <a:solidFill>
              <a:srgbClr val="D3D3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sentiment scores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CE23944-05E0-BC6B-E001-9554AE099B66}"/>
                </a:ext>
              </a:extLst>
            </p:cNvPr>
            <p:cNvSpPr/>
            <p:nvPr/>
          </p:nvSpPr>
          <p:spPr>
            <a:xfrm>
              <a:off x="8036149" y="2285490"/>
              <a:ext cx="1102678" cy="657567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sentiment model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1C97192-621D-6450-0207-590B2F597244}"/>
                </a:ext>
              </a:extLst>
            </p:cNvPr>
            <p:cNvSpPr/>
            <p:nvPr/>
          </p:nvSpPr>
          <p:spPr>
            <a:xfrm>
              <a:off x="6642573" y="1263739"/>
              <a:ext cx="1120345" cy="714460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topic model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DDFD31A-98E9-17D6-0FE4-F197F34CEB02}"/>
                </a:ext>
              </a:extLst>
            </p:cNvPr>
            <p:cNvSpPr/>
            <p:nvPr/>
          </p:nvSpPr>
          <p:spPr>
            <a:xfrm>
              <a:off x="1171914" y="1304135"/>
              <a:ext cx="1074523" cy="6237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chunk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4DE0A345-2C32-ABD5-16F2-3154C2E3D683}"/>
                </a:ext>
              </a:extLst>
            </p:cNvPr>
            <p:cNvSpPr/>
            <p:nvPr/>
          </p:nvSpPr>
          <p:spPr>
            <a:xfrm>
              <a:off x="9629381" y="3288682"/>
              <a:ext cx="1102678" cy="637145"/>
            </a:xfrm>
            <a:prstGeom prst="parallelogram">
              <a:avLst/>
            </a:prstGeom>
            <a:solidFill>
              <a:srgbClr val="D3D3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co-ordinates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E6A4231-33EF-1164-CE2E-ADDD27DB7D0F}"/>
                </a:ext>
              </a:extLst>
            </p:cNvPr>
            <p:cNvSpPr/>
            <p:nvPr/>
          </p:nvSpPr>
          <p:spPr>
            <a:xfrm>
              <a:off x="2364340" y="1309342"/>
              <a:ext cx="1225377" cy="6237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generate soft-labelled set 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98FA179-6D15-FF6D-1D72-FAB98208CD10}"/>
                </a:ext>
              </a:extLst>
            </p:cNvPr>
            <p:cNvSpPr/>
            <p:nvPr/>
          </p:nvSpPr>
          <p:spPr>
            <a:xfrm>
              <a:off x="3703502" y="1304135"/>
              <a:ext cx="1074523" cy="6237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train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26CA328-8B7B-9743-CC35-DF0F9720A948}"/>
                </a:ext>
              </a:extLst>
            </p:cNvPr>
            <p:cNvSpPr txBox="1"/>
            <p:nvPr/>
          </p:nvSpPr>
          <p:spPr>
            <a:xfrm>
              <a:off x="1022022" y="950586"/>
              <a:ext cx="10663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weak learning</a:t>
              </a: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A6F3CA0A-0044-49C7-E349-C7A8794C6451}"/>
                </a:ext>
              </a:extLst>
            </p:cNvPr>
            <p:cNvSpPr/>
            <p:nvPr/>
          </p:nvSpPr>
          <p:spPr>
            <a:xfrm>
              <a:off x="802583" y="2538086"/>
              <a:ext cx="1482815" cy="995863"/>
            </a:xfrm>
            <a:prstGeom prst="roundRect">
              <a:avLst/>
            </a:prstGeom>
            <a:noFill/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B473F1A-A7D3-703E-5EF8-139918F52789}"/>
                </a:ext>
              </a:extLst>
            </p:cNvPr>
            <p:cNvSpPr txBox="1"/>
            <p:nvPr/>
          </p:nvSpPr>
          <p:spPr>
            <a:xfrm>
              <a:off x="755128" y="2530996"/>
              <a:ext cx="1554750" cy="880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community </a:t>
              </a:r>
            </a:p>
            <a:p>
              <a:pPr algn="ctr">
                <a:lnSpc>
                  <a:spcPct val="150000"/>
                </a:lnSpc>
              </a:pPr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comments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B065FBD-82CD-8C54-7342-80D8C25AE7D0}"/>
                </a:ext>
              </a:extLst>
            </p:cNvPr>
            <p:cNvSpPr txBox="1"/>
            <p:nvPr/>
          </p:nvSpPr>
          <p:spPr>
            <a:xfrm>
              <a:off x="755128" y="2734938"/>
              <a:ext cx="1554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i="1" dirty="0">
                  <a:solidFill>
                    <a:srgbClr val="F657C9"/>
                  </a:solidFill>
                  <a:latin typeface="AngsanaUPC" panose="020B0604020202020204" pitchFamily="34" charset="0"/>
                  <a:cs typeface="AngsanaUPC" panose="020B0604020202020204" pitchFamily="34" charset="0"/>
                </a:rPr>
                <a:t>web-scraped</a:t>
              </a:r>
              <a:endParaRPr lang="en-US" sz="2800" dirty="0">
                <a:solidFill>
                  <a:srgbClr val="F657C9"/>
                </a:solidFill>
              </a:endParaRPr>
            </a:p>
          </p:txBody>
        </p: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6EC5B966-4B1E-1B55-5571-9EAF9BBD90C8}"/>
                </a:ext>
              </a:extLst>
            </p:cNvPr>
            <p:cNvCxnSpPr>
              <a:cxnSpLocks/>
              <a:endCxn id="12" idx="5"/>
            </p:cNvCxnSpPr>
            <p:nvPr/>
          </p:nvCxnSpPr>
          <p:spPr>
            <a:xfrm>
              <a:off x="2258263" y="3185885"/>
              <a:ext cx="7450761" cy="421370"/>
            </a:xfrm>
            <a:prstGeom prst="bentConnector3">
              <a:avLst>
                <a:gd name="adj1" fmla="val 6646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6" name="Picture 65" descr="A logo with colorful dots and lines&#10;&#10;AI-generated content may be incorrect.">
              <a:extLst>
                <a:ext uri="{FF2B5EF4-FFF2-40B4-BE49-F238E27FC236}">
                  <a16:creationId xmlns:a16="http://schemas.microsoft.com/office/drawing/2014/main" id="{1A94A341-5EA2-AB6D-6FFF-D2DA369A99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02746" y="4069040"/>
              <a:ext cx="1256270" cy="802617"/>
            </a:xfrm>
            <a:prstGeom prst="rect">
              <a:avLst/>
            </a:prstGeom>
            <a:ln>
              <a:noFill/>
            </a:ln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CC18D1E-C20D-7FAA-A82D-D42B04E38358}"/>
                </a:ext>
              </a:extLst>
            </p:cNvPr>
            <p:cNvSpPr/>
            <p:nvPr/>
          </p:nvSpPr>
          <p:spPr>
            <a:xfrm>
              <a:off x="8036149" y="1265546"/>
              <a:ext cx="1120345" cy="714460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manual topic reduction</a:t>
              </a: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7C61548D-E8E8-F2A8-BFCD-00A0F2BCC975}"/>
                </a:ext>
              </a:extLst>
            </p:cNvPr>
            <p:cNvSpPr/>
            <p:nvPr/>
          </p:nvSpPr>
          <p:spPr>
            <a:xfrm>
              <a:off x="9643263" y="4212485"/>
              <a:ext cx="1102678" cy="637145"/>
            </a:xfrm>
            <a:prstGeom prst="rect">
              <a:avLst/>
            </a:prstGeom>
            <a:solidFill>
              <a:srgbClr val="D3D3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details of planning application</a:t>
              </a:r>
            </a:p>
          </p:txBody>
        </p:sp>
        <p:sp>
          <p:nvSpPr>
            <p:cNvPr id="139" name="Parallelogram 138">
              <a:extLst>
                <a:ext uri="{FF2B5EF4-FFF2-40B4-BE49-F238E27FC236}">
                  <a16:creationId xmlns:a16="http://schemas.microsoft.com/office/drawing/2014/main" id="{F46EE9B6-A121-3ABC-C7DA-CC10EA431C7C}"/>
                </a:ext>
              </a:extLst>
            </p:cNvPr>
            <p:cNvSpPr/>
            <p:nvPr/>
          </p:nvSpPr>
          <p:spPr>
            <a:xfrm>
              <a:off x="2428492" y="4163944"/>
              <a:ext cx="1286396" cy="719883"/>
            </a:xfrm>
            <a:prstGeom prst="parallelogram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planning application IDs</a:t>
              </a: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F7ACCCE3-CEAA-654B-1477-4A5E0CD9DC17}"/>
                </a:ext>
              </a:extLst>
            </p:cNvPr>
            <p:cNvSpPr/>
            <p:nvPr/>
          </p:nvSpPr>
          <p:spPr>
            <a:xfrm>
              <a:off x="985662" y="4233517"/>
              <a:ext cx="1102678" cy="637145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web-scraping pipeline</a:t>
              </a:r>
            </a:p>
          </p:txBody>
        </p:sp>
        <p:pic>
          <p:nvPicPr>
            <p:cNvPr id="1026" name="Picture 2" descr="2021–2022 United Kingdom censuses - Wikipedia">
              <a:extLst>
                <a:ext uri="{FF2B5EF4-FFF2-40B4-BE49-F238E27FC236}">
                  <a16:creationId xmlns:a16="http://schemas.microsoft.com/office/drawing/2014/main" id="{59C1413F-712E-DE78-B7FE-218579C1A8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23728" y="5370563"/>
              <a:ext cx="1123349" cy="4437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5" name="Elbow Connector 174">
              <a:extLst>
                <a:ext uri="{FF2B5EF4-FFF2-40B4-BE49-F238E27FC236}">
                  <a16:creationId xmlns:a16="http://schemas.microsoft.com/office/drawing/2014/main" id="{4CA89BEB-91FC-6F5A-B511-C03F09E22CBF}"/>
                </a:ext>
              </a:extLst>
            </p:cNvPr>
            <p:cNvCxnSpPr>
              <a:cxnSpLocks/>
              <a:stCxn id="1036" idx="0"/>
              <a:endCxn id="172" idx="1"/>
            </p:cNvCxnSpPr>
            <p:nvPr/>
          </p:nvCxnSpPr>
          <p:spPr>
            <a:xfrm rot="16200000" flipV="1">
              <a:off x="2650466" y="33222"/>
              <a:ext cx="908716" cy="4074432"/>
            </a:xfrm>
            <a:prstGeom prst="bentConnector4">
              <a:avLst>
                <a:gd name="adj1" fmla="val 26614"/>
                <a:gd name="adj2" fmla="val 10561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584A10EB-74CA-2371-61D5-991C7EC19409}"/>
                </a:ext>
              </a:extLst>
            </p:cNvPr>
            <p:cNvSpPr txBox="1"/>
            <p:nvPr/>
          </p:nvSpPr>
          <p:spPr>
            <a:xfrm rot="16200000">
              <a:off x="10056864" y="4913522"/>
              <a:ext cx="19659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variables used in analysis</a:t>
              </a:r>
            </a:p>
          </p:txBody>
        </p:sp>
        <p:sp>
          <p:nvSpPr>
            <p:cNvPr id="1034" name="TextBox 1033">
              <a:extLst>
                <a:ext uri="{FF2B5EF4-FFF2-40B4-BE49-F238E27FC236}">
                  <a16:creationId xmlns:a16="http://schemas.microsoft.com/office/drawing/2014/main" id="{8D2F0EB0-DEAA-BD18-0196-E80E4B12C9D2}"/>
                </a:ext>
              </a:extLst>
            </p:cNvPr>
            <p:cNvSpPr txBox="1"/>
            <p:nvPr/>
          </p:nvSpPr>
          <p:spPr>
            <a:xfrm>
              <a:off x="7082733" y="1064050"/>
              <a:ext cx="7601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BERTopic</a:t>
              </a:r>
            </a:p>
          </p:txBody>
        </p:sp>
        <p:sp>
          <p:nvSpPr>
            <p:cNvPr id="1035" name="TextBox 1034">
              <a:extLst>
                <a:ext uri="{FF2B5EF4-FFF2-40B4-BE49-F238E27FC236}">
                  <a16:creationId xmlns:a16="http://schemas.microsoft.com/office/drawing/2014/main" id="{73982C3C-012E-1FCA-3670-13471D7DC635}"/>
                </a:ext>
              </a:extLst>
            </p:cNvPr>
            <p:cNvSpPr txBox="1"/>
            <p:nvPr/>
          </p:nvSpPr>
          <p:spPr>
            <a:xfrm>
              <a:off x="8036149" y="2094510"/>
              <a:ext cx="11368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All-MiniLM-L6-v2</a:t>
              </a:r>
            </a:p>
          </p:txBody>
        </p:sp>
        <p:sp>
          <p:nvSpPr>
            <p:cNvPr id="1036" name="Rectangle 1035">
              <a:extLst>
                <a:ext uri="{FF2B5EF4-FFF2-40B4-BE49-F238E27FC236}">
                  <a16:creationId xmlns:a16="http://schemas.microsoft.com/office/drawing/2014/main" id="{E2C589FC-DB35-4178-E647-A890100B251F}"/>
                </a:ext>
              </a:extLst>
            </p:cNvPr>
            <p:cNvSpPr/>
            <p:nvPr/>
          </p:nvSpPr>
          <p:spPr>
            <a:xfrm>
              <a:off x="4590701" y="2524796"/>
              <a:ext cx="1102678" cy="657567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remove names and addresses</a:t>
              </a:r>
            </a:p>
          </p:txBody>
        </p:sp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E3B307D8-D899-6D4E-CA8B-03ECA373697D}"/>
                </a:ext>
              </a:extLst>
            </p:cNvPr>
            <p:cNvSpPr txBox="1"/>
            <p:nvPr/>
          </p:nvSpPr>
          <p:spPr>
            <a:xfrm>
              <a:off x="5340573" y="2341099"/>
              <a:ext cx="43633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NER</a:t>
              </a:r>
            </a:p>
          </p:txBody>
        </p:sp>
        <p:sp>
          <p:nvSpPr>
            <p:cNvPr id="2" name="Parallelogram 1">
              <a:extLst>
                <a:ext uri="{FF2B5EF4-FFF2-40B4-BE49-F238E27FC236}">
                  <a16:creationId xmlns:a16="http://schemas.microsoft.com/office/drawing/2014/main" id="{F136AB36-8FC7-5D16-4B80-A0E363AC7F30}"/>
                </a:ext>
              </a:extLst>
            </p:cNvPr>
            <p:cNvSpPr/>
            <p:nvPr/>
          </p:nvSpPr>
          <p:spPr>
            <a:xfrm>
              <a:off x="5134753" y="1252042"/>
              <a:ext cx="1253965" cy="708229"/>
            </a:xfrm>
            <a:prstGeom prst="parallelogram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fine-tuned sentence transformer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FA20A97-4BDA-2343-D3F7-C7B7451C27D6}"/>
                </a:ext>
              </a:extLst>
            </p:cNvPr>
            <p:cNvCxnSpPr>
              <a:cxnSpLocks/>
            </p:cNvCxnSpPr>
            <p:nvPr/>
          </p:nvCxnSpPr>
          <p:spPr>
            <a:xfrm>
              <a:off x="8564049" y="4523886"/>
              <a:ext cx="1039607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BCF944B-06A7-3CEF-A648-F1EFA1951927}"/>
                </a:ext>
              </a:extLst>
            </p:cNvPr>
            <p:cNvCxnSpPr>
              <a:cxnSpLocks/>
            </p:cNvCxnSpPr>
            <p:nvPr/>
          </p:nvCxnSpPr>
          <p:spPr>
            <a:xfrm>
              <a:off x="8573557" y="5492007"/>
              <a:ext cx="1039607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B300EB-342A-64A9-9020-8FABF8E4E9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10143" y="4523886"/>
              <a:ext cx="346418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2824424-87D6-511C-CE51-F12F0F6C97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2512" y="4531058"/>
              <a:ext cx="4860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3E7BCDF-770B-4F6D-9F75-25C94065AB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37001" y="3533949"/>
              <a:ext cx="0" cy="7189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4995403B-D2EB-3345-F585-AD7B9AC48817}"/>
                </a:ext>
              </a:extLst>
            </p:cNvPr>
            <p:cNvCxnSpPr/>
            <p:nvPr/>
          </p:nvCxnSpPr>
          <p:spPr>
            <a:xfrm>
              <a:off x="2285398" y="2820788"/>
              <a:ext cx="83978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A8E06EE-08C8-6AF8-2420-52226C4AD400}"/>
                </a:ext>
              </a:extLst>
            </p:cNvPr>
            <p:cNvCxnSpPr>
              <a:cxnSpLocks/>
            </p:cNvCxnSpPr>
            <p:nvPr/>
          </p:nvCxnSpPr>
          <p:spPr>
            <a:xfrm>
              <a:off x="4189823" y="2829225"/>
              <a:ext cx="400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50EEC755-84A5-D393-CF93-3465A8F73A82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flipV="1">
              <a:off x="5664854" y="1978199"/>
              <a:ext cx="1537892" cy="70552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8F670534-826B-F9BC-C7EC-634A73E79110}"/>
                </a:ext>
              </a:extLst>
            </p:cNvPr>
            <p:cNvCxnSpPr>
              <a:cxnSpLocks/>
            </p:cNvCxnSpPr>
            <p:nvPr/>
          </p:nvCxnSpPr>
          <p:spPr>
            <a:xfrm>
              <a:off x="5664854" y="2606163"/>
              <a:ext cx="242850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089B2818-C376-1A4B-06AE-4FBC195E58BA}"/>
                </a:ext>
              </a:extLst>
            </p:cNvPr>
            <p:cNvCxnSpPr>
              <a:cxnSpLocks/>
            </p:cNvCxnSpPr>
            <p:nvPr/>
          </p:nvCxnSpPr>
          <p:spPr>
            <a:xfrm>
              <a:off x="9123364" y="2609414"/>
              <a:ext cx="6179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FC29CD0-73B4-9A13-110E-5100198362D1}"/>
                </a:ext>
              </a:extLst>
            </p:cNvPr>
            <p:cNvCxnSpPr>
              <a:cxnSpLocks/>
            </p:cNvCxnSpPr>
            <p:nvPr/>
          </p:nvCxnSpPr>
          <p:spPr>
            <a:xfrm>
              <a:off x="9123364" y="1659985"/>
              <a:ext cx="6179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E0F85562-F232-DFA8-FFB2-5DF6C2EBF662}"/>
                </a:ext>
              </a:extLst>
            </p:cNvPr>
            <p:cNvCxnSpPr>
              <a:cxnSpLocks/>
            </p:cNvCxnSpPr>
            <p:nvPr/>
          </p:nvCxnSpPr>
          <p:spPr>
            <a:xfrm>
              <a:off x="7699911" y="1634701"/>
              <a:ext cx="400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5D99F227-ACD9-2705-393A-7A16978209CA}"/>
                </a:ext>
              </a:extLst>
            </p:cNvPr>
            <p:cNvCxnSpPr>
              <a:cxnSpLocks/>
            </p:cNvCxnSpPr>
            <p:nvPr/>
          </p:nvCxnSpPr>
          <p:spPr>
            <a:xfrm>
              <a:off x="6265233" y="1634701"/>
              <a:ext cx="400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DEDA40B-31F3-5689-02B4-5BA61C392EC7}"/>
                </a:ext>
              </a:extLst>
            </p:cNvPr>
            <p:cNvCxnSpPr>
              <a:cxnSpLocks/>
            </p:cNvCxnSpPr>
            <p:nvPr/>
          </p:nvCxnSpPr>
          <p:spPr>
            <a:xfrm>
              <a:off x="4884856" y="1625167"/>
              <a:ext cx="400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936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D2EC4-C2A0-399C-55D3-5C8B1CC4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955B9E5-FCEB-2AEB-759B-79F935115632}"/>
              </a:ext>
            </a:extLst>
          </p:cNvPr>
          <p:cNvCxnSpPr>
            <a:cxnSpLocks/>
            <a:endCxn id="139" idx="2"/>
          </p:cNvCxnSpPr>
          <p:nvPr/>
        </p:nvCxnSpPr>
        <p:spPr>
          <a:xfrm flipH="1">
            <a:off x="3011444" y="4523886"/>
            <a:ext cx="562855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D7F3DD1-AE5B-16FD-945C-B14938C0AB5F}"/>
              </a:ext>
            </a:extLst>
          </p:cNvPr>
          <p:cNvCxnSpPr>
            <a:cxnSpLocks/>
          </p:cNvCxnSpPr>
          <p:nvPr/>
        </p:nvCxnSpPr>
        <p:spPr>
          <a:xfrm flipV="1">
            <a:off x="3495516" y="2647163"/>
            <a:ext cx="588202" cy="84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77D7F28-1281-B2E5-9373-E064A14C7A00}"/>
              </a:ext>
            </a:extLst>
          </p:cNvPr>
          <p:cNvCxnSpPr>
            <a:cxnSpLocks/>
          </p:cNvCxnSpPr>
          <p:nvPr/>
        </p:nvCxnSpPr>
        <p:spPr>
          <a:xfrm>
            <a:off x="5709220" y="1634701"/>
            <a:ext cx="400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A9635B44-BFBC-4C12-21C3-CEF3FA14F9EB}"/>
              </a:ext>
            </a:extLst>
          </p:cNvPr>
          <p:cNvSpPr/>
          <p:nvPr/>
        </p:nvSpPr>
        <p:spPr>
          <a:xfrm>
            <a:off x="1947286" y="1191056"/>
            <a:ext cx="3847065" cy="85004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4BB47D52-F6E0-3455-1F93-D6F8997A0645}"/>
              </a:ext>
            </a:extLst>
          </p:cNvPr>
          <p:cNvCxnSpPr>
            <a:cxnSpLocks/>
            <a:endCxn id="12" idx="5"/>
          </p:cNvCxnSpPr>
          <p:nvPr/>
        </p:nvCxnSpPr>
        <p:spPr>
          <a:xfrm>
            <a:off x="1462203" y="3185716"/>
            <a:ext cx="9110282" cy="366652"/>
          </a:xfrm>
          <a:prstGeom prst="bentConnector3">
            <a:avLst>
              <a:gd name="adj1" fmla="val 75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32BB8419-4FD6-1064-DC4C-309C78358A69}"/>
              </a:ext>
            </a:extLst>
          </p:cNvPr>
          <p:cNvCxnSpPr>
            <a:cxnSpLocks/>
            <a:endCxn id="5" idx="5"/>
          </p:cNvCxnSpPr>
          <p:nvPr/>
        </p:nvCxnSpPr>
        <p:spPr>
          <a:xfrm flipV="1">
            <a:off x="1503450" y="2677736"/>
            <a:ext cx="1259171" cy="23991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5C656F3B-4BC1-FDC4-C8B6-6984E21A9104}"/>
              </a:ext>
            </a:extLst>
          </p:cNvPr>
          <p:cNvSpPr/>
          <p:nvPr/>
        </p:nvSpPr>
        <p:spPr>
          <a:xfrm>
            <a:off x="165974" y="2538086"/>
            <a:ext cx="1482815" cy="99586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E58BE569-D26E-057C-7838-6D9C8DF48D97}"/>
              </a:ext>
            </a:extLst>
          </p:cNvPr>
          <p:cNvSpPr/>
          <p:nvPr/>
        </p:nvSpPr>
        <p:spPr>
          <a:xfrm>
            <a:off x="10312002" y="1030910"/>
            <a:ext cx="1499287" cy="5117133"/>
          </a:xfrm>
          <a:prstGeom prst="roundRect">
            <a:avLst/>
          </a:prstGeom>
          <a:solidFill>
            <a:srgbClr val="C089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A23893-AF3D-EDCB-46EF-B1BEA195968D}"/>
              </a:ext>
            </a:extLst>
          </p:cNvPr>
          <p:cNvCxnSpPr>
            <a:cxnSpLocks/>
          </p:cNvCxnSpPr>
          <p:nvPr/>
        </p:nvCxnSpPr>
        <p:spPr>
          <a:xfrm>
            <a:off x="9005868" y="5575442"/>
            <a:ext cx="15190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81FF33A-14AB-5BA4-EB7D-9E3899F03114}"/>
              </a:ext>
            </a:extLst>
          </p:cNvPr>
          <p:cNvCxnSpPr>
            <a:cxnSpLocks/>
          </p:cNvCxnSpPr>
          <p:nvPr/>
        </p:nvCxnSpPr>
        <p:spPr>
          <a:xfrm>
            <a:off x="9005868" y="4498581"/>
            <a:ext cx="15190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2FC9D7A-3BD1-1A50-F3E8-7D0346ABC67B}"/>
              </a:ext>
            </a:extLst>
          </p:cNvPr>
          <p:cNvCxnSpPr>
            <a:cxnSpLocks/>
          </p:cNvCxnSpPr>
          <p:nvPr/>
        </p:nvCxnSpPr>
        <p:spPr>
          <a:xfrm flipH="1">
            <a:off x="1462203" y="4531058"/>
            <a:ext cx="4860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B04127-DEA6-8477-48AD-4867ED5E2D16}"/>
              </a:ext>
            </a:extLst>
          </p:cNvPr>
          <p:cNvCxnSpPr>
            <a:cxnSpLocks/>
          </p:cNvCxnSpPr>
          <p:nvPr/>
        </p:nvCxnSpPr>
        <p:spPr>
          <a:xfrm flipV="1">
            <a:off x="4895880" y="2647164"/>
            <a:ext cx="588202" cy="84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8" name="Rounded Rectangle 1047">
            <a:extLst>
              <a:ext uri="{FF2B5EF4-FFF2-40B4-BE49-F238E27FC236}">
                <a16:creationId xmlns:a16="http://schemas.microsoft.com/office/drawing/2014/main" id="{2B9F230B-FFDE-0DFD-19B5-A00782787E1D}"/>
              </a:ext>
            </a:extLst>
          </p:cNvPr>
          <p:cNvSpPr/>
          <p:nvPr/>
        </p:nvSpPr>
        <p:spPr>
          <a:xfrm>
            <a:off x="7977095" y="3972235"/>
            <a:ext cx="1482815" cy="99586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3A6F471E-423A-0DBB-C079-F2243F66B189}"/>
              </a:ext>
            </a:extLst>
          </p:cNvPr>
          <p:cNvSpPr/>
          <p:nvPr/>
        </p:nvSpPr>
        <p:spPr>
          <a:xfrm>
            <a:off x="2674092" y="2323621"/>
            <a:ext cx="1253965" cy="708229"/>
          </a:xfrm>
          <a:prstGeom prst="parallelogram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comment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6E45E5-9EB6-1295-83FA-891A82D2131B}"/>
              </a:ext>
            </a:extLst>
          </p:cNvPr>
          <p:cNvSpPr/>
          <p:nvPr/>
        </p:nvSpPr>
        <p:spPr>
          <a:xfrm>
            <a:off x="10522940" y="5146865"/>
            <a:ext cx="1102679" cy="788229"/>
          </a:xfrm>
          <a:prstGeom prst="rect">
            <a:avLst/>
          </a:prstGeom>
          <a:solidFill>
            <a:srgbClr val="894D9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/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D0A2EB7B-FCEA-053A-0452-247EDC755DFB}"/>
              </a:ext>
            </a:extLst>
          </p:cNvPr>
          <p:cNvSpPr/>
          <p:nvPr/>
        </p:nvSpPr>
        <p:spPr>
          <a:xfrm>
            <a:off x="10505274" y="1248059"/>
            <a:ext cx="1120345" cy="714460"/>
          </a:xfrm>
          <a:prstGeom prst="parallelogram">
            <a:avLst/>
          </a:prstGeom>
          <a:solidFill>
            <a:srgbClr val="894D9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topics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D3A97220-36F4-660B-CD95-E62579A05629}"/>
              </a:ext>
            </a:extLst>
          </p:cNvPr>
          <p:cNvSpPr/>
          <p:nvPr/>
        </p:nvSpPr>
        <p:spPr>
          <a:xfrm>
            <a:off x="10509059" y="2266347"/>
            <a:ext cx="1102678" cy="657567"/>
          </a:xfrm>
          <a:prstGeom prst="parallelogram">
            <a:avLst/>
          </a:prstGeom>
          <a:solidFill>
            <a:srgbClr val="894D9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sentiment scores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28CD1E-DD7A-700B-CBFC-E3A83957B058}"/>
              </a:ext>
            </a:extLst>
          </p:cNvPr>
          <p:cNvSpPr/>
          <p:nvPr/>
        </p:nvSpPr>
        <p:spPr>
          <a:xfrm>
            <a:off x="2051592" y="1304135"/>
            <a:ext cx="1074523" cy="623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chunk</a:t>
            </a: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C7F128DE-0C62-F904-DA42-54701CF1E93C}"/>
              </a:ext>
            </a:extLst>
          </p:cNvPr>
          <p:cNvSpPr/>
          <p:nvPr/>
        </p:nvSpPr>
        <p:spPr>
          <a:xfrm>
            <a:off x="10492842" y="3233795"/>
            <a:ext cx="1102678" cy="637145"/>
          </a:xfrm>
          <a:prstGeom prst="parallelogram">
            <a:avLst/>
          </a:prstGeom>
          <a:solidFill>
            <a:srgbClr val="894D9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/>
              </a:solidFill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E5A97D-4BDF-9C6A-6AC6-AFDD518DBC13}"/>
              </a:ext>
            </a:extLst>
          </p:cNvPr>
          <p:cNvSpPr/>
          <p:nvPr/>
        </p:nvSpPr>
        <p:spPr>
          <a:xfrm>
            <a:off x="3244018" y="1309342"/>
            <a:ext cx="1225377" cy="623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generate soft-labelled set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2B7A3-F73F-6D8B-C952-26987A3B4EED}"/>
              </a:ext>
            </a:extLst>
          </p:cNvPr>
          <p:cNvSpPr/>
          <p:nvPr/>
        </p:nvSpPr>
        <p:spPr>
          <a:xfrm>
            <a:off x="4583180" y="1304135"/>
            <a:ext cx="1074523" cy="623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train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064B6B-9B67-4301-5F55-3B320187E984}"/>
              </a:ext>
            </a:extLst>
          </p:cNvPr>
          <p:cNvSpPr txBox="1"/>
          <p:nvPr/>
        </p:nvSpPr>
        <p:spPr>
          <a:xfrm>
            <a:off x="1944687" y="1008461"/>
            <a:ext cx="3849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weak learning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CB5740-EFEB-58B3-5D5D-071018618F66}"/>
              </a:ext>
            </a:extLst>
          </p:cNvPr>
          <p:cNvSpPr txBox="1"/>
          <p:nvPr/>
        </p:nvSpPr>
        <p:spPr>
          <a:xfrm>
            <a:off x="118519" y="2530996"/>
            <a:ext cx="155475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community </a:t>
            </a: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comments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356B94-D48F-82A7-130B-3DD4D75D7914}"/>
              </a:ext>
            </a:extLst>
          </p:cNvPr>
          <p:cNvSpPr txBox="1"/>
          <p:nvPr/>
        </p:nvSpPr>
        <p:spPr>
          <a:xfrm>
            <a:off x="118519" y="2734938"/>
            <a:ext cx="1554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i="1" dirty="0">
                <a:solidFill>
                  <a:srgbClr val="F657C9"/>
                </a:solidFill>
                <a:latin typeface="AngsanaUPC" panose="020B0604020202020204" pitchFamily="34" charset="0"/>
                <a:cs typeface="AngsanaUPC" panose="020B0604020202020204" pitchFamily="34" charset="0"/>
              </a:rPr>
              <a:t>web-scraped</a:t>
            </a:r>
            <a:endParaRPr lang="en-US" sz="2800" dirty="0">
              <a:solidFill>
                <a:srgbClr val="F657C9"/>
              </a:solidFill>
            </a:endParaRPr>
          </a:p>
        </p:txBody>
      </p:sp>
      <p:pic>
        <p:nvPicPr>
          <p:cNvPr id="66" name="Picture 65" descr="A logo with colorful dots and lines&#10;&#10;AI-generated content may be incorrect.">
            <a:extLst>
              <a:ext uri="{FF2B5EF4-FFF2-40B4-BE49-F238E27FC236}">
                <a16:creationId xmlns:a16="http://schemas.microsoft.com/office/drawing/2014/main" id="{9DD3ADE3-97F8-0659-3106-EBA1E977A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607" y="4076815"/>
            <a:ext cx="1256270" cy="802617"/>
          </a:xfrm>
          <a:prstGeom prst="rect">
            <a:avLst/>
          </a:prstGeom>
          <a:ln>
            <a:noFill/>
          </a:ln>
        </p:spPr>
      </p:pic>
      <p:sp>
        <p:nvSpPr>
          <p:cNvPr id="138" name="Rectangle 137">
            <a:extLst>
              <a:ext uri="{FF2B5EF4-FFF2-40B4-BE49-F238E27FC236}">
                <a16:creationId xmlns:a16="http://schemas.microsoft.com/office/drawing/2014/main" id="{11A05189-C3F6-8AE7-BC37-86B2F068992D}"/>
              </a:ext>
            </a:extLst>
          </p:cNvPr>
          <p:cNvSpPr/>
          <p:nvPr/>
        </p:nvSpPr>
        <p:spPr>
          <a:xfrm>
            <a:off x="10522941" y="4187084"/>
            <a:ext cx="1102678" cy="637145"/>
          </a:xfrm>
          <a:prstGeom prst="rect">
            <a:avLst/>
          </a:prstGeom>
          <a:solidFill>
            <a:srgbClr val="894D9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planning application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details</a:t>
            </a:r>
          </a:p>
        </p:txBody>
      </p:sp>
      <p:sp>
        <p:nvSpPr>
          <p:cNvPr id="139" name="Parallelogram 138">
            <a:extLst>
              <a:ext uri="{FF2B5EF4-FFF2-40B4-BE49-F238E27FC236}">
                <a16:creationId xmlns:a16="http://schemas.microsoft.com/office/drawing/2014/main" id="{B533E0DB-19FC-5DA9-D79B-B05BA69671DD}"/>
              </a:ext>
            </a:extLst>
          </p:cNvPr>
          <p:cNvSpPr/>
          <p:nvPr/>
        </p:nvSpPr>
        <p:spPr>
          <a:xfrm>
            <a:off x="1815033" y="4163944"/>
            <a:ext cx="1286396" cy="719883"/>
          </a:xfrm>
          <a:prstGeom prst="parallelogram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planning application IDs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3286D20-F0DF-0258-AECB-8EC4464A6404}"/>
              </a:ext>
            </a:extLst>
          </p:cNvPr>
          <p:cNvSpPr/>
          <p:nvPr/>
        </p:nvSpPr>
        <p:spPr>
          <a:xfrm>
            <a:off x="372203" y="4233517"/>
            <a:ext cx="1102678" cy="637145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web-scraping pipeline</a:t>
            </a:r>
          </a:p>
        </p:txBody>
      </p:sp>
      <p:sp>
        <p:nvSpPr>
          <p:cNvPr id="1051" name="Rounded Rectangle 1050">
            <a:extLst>
              <a:ext uri="{FF2B5EF4-FFF2-40B4-BE49-F238E27FC236}">
                <a16:creationId xmlns:a16="http://schemas.microsoft.com/office/drawing/2014/main" id="{C3688217-DF0F-5F70-8568-11B0A449482C}"/>
              </a:ext>
            </a:extLst>
          </p:cNvPr>
          <p:cNvSpPr/>
          <p:nvPr/>
        </p:nvSpPr>
        <p:spPr>
          <a:xfrm>
            <a:off x="7977095" y="5039140"/>
            <a:ext cx="1482815" cy="99586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pic>
        <p:nvPicPr>
          <p:cNvPr id="1026" name="Picture 2" descr="2021–2022 United Kingdom censuses - Wikipedia">
            <a:extLst>
              <a:ext uri="{FF2B5EF4-FFF2-40B4-BE49-F238E27FC236}">
                <a16:creationId xmlns:a16="http://schemas.microsoft.com/office/drawing/2014/main" id="{6E545F29-2A51-ADFF-FA44-77623E4EE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589" y="5313640"/>
            <a:ext cx="1123349" cy="443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5" name="Elbow Connector 174">
            <a:extLst>
              <a:ext uri="{FF2B5EF4-FFF2-40B4-BE49-F238E27FC236}">
                <a16:creationId xmlns:a16="http://schemas.microsoft.com/office/drawing/2014/main" id="{CBB031F5-B534-F96D-160E-F9B69BEB6135}"/>
              </a:ext>
            </a:extLst>
          </p:cNvPr>
          <p:cNvCxnSpPr>
            <a:cxnSpLocks/>
            <a:stCxn id="3" idx="0"/>
            <a:endCxn id="172" idx="2"/>
          </p:cNvCxnSpPr>
          <p:nvPr/>
        </p:nvCxnSpPr>
        <p:spPr>
          <a:xfrm rot="16200000" flipV="1">
            <a:off x="4799063" y="1112859"/>
            <a:ext cx="282518" cy="2139006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CB585C7F-FBC4-8939-FEB7-A2B1038E1AF9}"/>
              </a:ext>
            </a:extLst>
          </p:cNvPr>
          <p:cNvSpPr txBox="1"/>
          <p:nvPr/>
        </p:nvSpPr>
        <p:spPr>
          <a:xfrm rot="16200000">
            <a:off x="10936542" y="4913522"/>
            <a:ext cx="19659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variables used in analysis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517A98ED-8A50-3C73-4120-B0FA0779EB84}"/>
              </a:ext>
            </a:extLst>
          </p:cNvPr>
          <p:cNvSpPr txBox="1"/>
          <p:nvPr/>
        </p:nvSpPr>
        <p:spPr>
          <a:xfrm>
            <a:off x="8868715" y="2117660"/>
            <a:ext cx="11500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All-MiniLM-L6-v2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B54D18B-4A7E-04B9-F7B4-5636F792778E}"/>
              </a:ext>
            </a:extLst>
          </p:cNvPr>
          <p:cNvCxnSpPr>
            <a:cxnSpLocks/>
          </p:cNvCxnSpPr>
          <p:nvPr/>
        </p:nvCxnSpPr>
        <p:spPr>
          <a:xfrm flipV="1">
            <a:off x="900392" y="3533949"/>
            <a:ext cx="0" cy="7189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29E8B6D7-8046-F303-A2B1-3E1BD9937DBB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6454850" y="1978199"/>
            <a:ext cx="1627574" cy="543702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7FFF3D2-5393-7192-92B1-4C88809DD591}"/>
              </a:ext>
            </a:extLst>
          </p:cNvPr>
          <p:cNvCxnSpPr>
            <a:cxnSpLocks/>
          </p:cNvCxnSpPr>
          <p:nvPr/>
        </p:nvCxnSpPr>
        <p:spPr>
          <a:xfrm>
            <a:off x="6487322" y="2644139"/>
            <a:ext cx="2428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5D3ADEC-D902-7D88-3D92-E5B0B9D43C72}"/>
              </a:ext>
            </a:extLst>
          </p:cNvPr>
          <p:cNvCxnSpPr>
            <a:cxnSpLocks/>
          </p:cNvCxnSpPr>
          <p:nvPr/>
        </p:nvCxnSpPr>
        <p:spPr>
          <a:xfrm>
            <a:off x="10003042" y="2609414"/>
            <a:ext cx="61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9E15114-3970-FB71-DFF8-2ADDA5AB3646}"/>
              </a:ext>
            </a:extLst>
          </p:cNvPr>
          <p:cNvCxnSpPr>
            <a:cxnSpLocks/>
          </p:cNvCxnSpPr>
          <p:nvPr/>
        </p:nvCxnSpPr>
        <p:spPr>
          <a:xfrm>
            <a:off x="10003042" y="1659985"/>
            <a:ext cx="617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21B8E3B-2A40-3283-2EFD-8F9F99FF8747}"/>
              </a:ext>
            </a:extLst>
          </p:cNvPr>
          <p:cNvCxnSpPr>
            <a:cxnSpLocks/>
          </p:cNvCxnSpPr>
          <p:nvPr/>
        </p:nvCxnSpPr>
        <p:spPr>
          <a:xfrm>
            <a:off x="8521714" y="1634701"/>
            <a:ext cx="400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DEB7FD85-830F-2E89-04F0-5BF80AC9BE32}"/>
              </a:ext>
            </a:extLst>
          </p:cNvPr>
          <p:cNvCxnSpPr>
            <a:cxnSpLocks/>
          </p:cNvCxnSpPr>
          <p:nvPr/>
        </p:nvCxnSpPr>
        <p:spPr>
          <a:xfrm>
            <a:off x="7133336" y="1634701"/>
            <a:ext cx="4008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Parallelogram 2">
            <a:extLst>
              <a:ext uri="{FF2B5EF4-FFF2-40B4-BE49-F238E27FC236}">
                <a16:creationId xmlns:a16="http://schemas.microsoft.com/office/drawing/2014/main" id="{2DD10FA1-89D8-A34B-6BE9-EEF30A850D50}"/>
              </a:ext>
            </a:extLst>
          </p:cNvPr>
          <p:cNvSpPr/>
          <p:nvPr/>
        </p:nvSpPr>
        <p:spPr>
          <a:xfrm>
            <a:off x="5382842" y="2323621"/>
            <a:ext cx="1253965" cy="708229"/>
          </a:xfrm>
          <a:prstGeom prst="parallelogram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cleaned comment text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2DF7BF-B3DD-E727-13B3-6634EF820F09}"/>
              </a:ext>
            </a:extLst>
          </p:cNvPr>
          <p:cNvSpPr/>
          <p:nvPr/>
        </p:nvSpPr>
        <p:spPr>
          <a:xfrm>
            <a:off x="8915827" y="2285490"/>
            <a:ext cx="1102678" cy="657567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sentiment model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57D1615-4176-0D97-5B8A-D9010F37C135}"/>
              </a:ext>
            </a:extLst>
          </p:cNvPr>
          <p:cNvSpPr/>
          <p:nvPr/>
        </p:nvSpPr>
        <p:spPr>
          <a:xfrm>
            <a:off x="8915827" y="1265546"/>
            <a:ext cx="1120345" cy="714460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manual topic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082C41-8FF9-C012-C5A3-2AFD1FBE5A8B}"/>
              </a:ext>
            </a:extLst>
          </p:cNvPr>
          <p:cNvSpPr/>
          <p:nvPr/>
        </p:nvSpPr>
        <p:spPr>
          <a:xfrm>
            <a:off x="7522251" y="1263739"/>
            <a:ext cx="1120345" cy="714460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topic model</a:t>
            </a:r>
          </a:p>
        </p:txBody>
      </p:sp>
      <p:sp>
        <p:nvSpPr>
          <p:cNvPr id="2" name="Parallelogram 1">
            <a:extLst>
              <a:ext uri="{FF2B5EF4-FFF2-40B4-BE49-F238E27FC236}">
                <a16:creationId xmlns:a16="http://schemas.microsoft.com/office/drawing/2014/main" id="{7E4A6562-C8DC-7176-81A6-3EAD4557038D}"/>
              </a:ext>
            </a:extLst>
          </p:cNvPr>
          <p:cNvSpPr/>
          <p:nvPr/>
        </p:nvSpPr>
        <p:spPr>
          <a:xfrm>
            <a:off x="6014431" y="1252042"/>
            <a:ext cx="1253965" cy="708229"/>
          </a:xfrm>
          <a:prstGeom prst="parallelogram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fine-tuned sentence transformer</a:t>
            </a: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273B9CA1-7AE6-E83C-3237-82DA2FBFE1EB}"/>
              </a:ext>
            </a:extLst>
          </p:cNvPr>
          <p:cNvSpPr txBox="1"/>
          <p:nvPr/>
        </p:nvSpPr>
        <p:spPr>
          <a:xfrm>
            <a:off x="7522251" y="1098774"/>
            <a:ext cx="11177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BERTopic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C38227-111A-A7D7-A51A-33F588E2FC73}"/>
              </a:ext>
            </a:extLst>
          </p:cNvPr>
          <p:cNvSpPr txBox="1"/>
          <p:nvPr/>
        </p:nvSpPr>
        <p:spPr>
          <a:xfrm>
            <a:off x="10414953" y="3435784"/>
            <a:ext cx="12584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coordinates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3856DD-AD8B-4025-7475-9818D958184B}"/>
              </a:ext>
            </a:extLst>
          </p:cNvPr>
          <p:cNvSpPr txBox="1"/>
          <p:nvPr/>
        </p:nvSpPr>
        <p:spPr>
          <a:xfrm>
            <a:off x="10393158" y="5350575"/>
            <a:ext cx="13642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sociodemographic variables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36B3EC7-B9F1-47C3-86AD-7790C6D1FDE4}"/>
              </a:ext>
            </a:extLst>
          </p:cNvPr>
          <p:cNvSpPr/>
          <p:nvPr/>
        </p:nvSpPr>
        <p:spPr>
          <a:xfrm>
            <a:off x="4071763" y="2334265"/>
            <a:ext cx="1120345" cy="714460"/>
          </a:xfrm>
          <a:prstGeom prst="rect">
            <a:avLst/>
          </a:prstGeom>
          <a:solidFill>
            <a:srgbClr val="8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anonymisation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A5B0464-9375-5646-C219-FED27777A862}"/>
              </a:ext>
            </a:extLst>
          </p:cNvPr>
          <p:cNvSpPr txBox="1"/>
          <p:nvPr/>
        </p:nvSpPr>
        <p:spPr>
          <a:xfrm>
            <a:off x="4127181" y="2178094"/>
            <a:ext cx="11177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rPr>
              <a:t>NER</a:t>
            </a:r>
          </a:p>
        </p:txBody>
      </p:sp>
    </p:spTree>
    <p:extLst>
      <p:ext uri="{BB962C8B-B14F-4D97-AF65-F5344CB8AC3E}">
        <p14:creationId xmlns:p14="http://schemas.microsoft.com/office/powerpoint/2010/main" val="3763931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38DE-2BFD-AD0D-2FFE-49417A403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F97A97B-1214-8320-A6CD-805949B92E59}"/>
              </a:ext>
            </a:extLst>
          </p:cNvPr>
          <p:cNvGrpSpPr/>
          <p:nvPr/>
        </p:nvGrpSpPr>
        <p:grpSpPr>
          <a:xfrm>
            <a:off x="118519" y="1008461"/>
            <a:ext cx="11939504" cy="5139582"/>
            <a:chOff x="118519" y="1008461"/>
            <a:chExt cx="11939504" cy="513958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B620EB3-FD51-463A-506A-508DCC4F3BE6}"/>
                </a:ext>
              </a:extLst>
            </p:cNvPr>
            <p:cNvCxnSpPr>
              <a:cxnSpLocks/>
              <a:endCxn id="139" idx="2"/>
            </p:cNvCxnSpPr>
            <p:nvPr/>
          </p:nvCxnSpPr>
          <p:spPr>
            <a:xfrm flipH="1">
              <a:off x="3011444" y="4523886"/>
              <a:ext cx="562855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F4063696-DD26-876A-719F-536822AE90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5516" y="2647163"/>
              <a:ext cx="588202" cy="843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622B7FC-4FBF-5037-3A56-D1D647CC39E0}"/>
                </a:ext>
              </a:extLst>
            </p:cNvPr>
            <p:cNvCxnSpPr>
              <a:cxnSpLocks/>
            </p:cNvCxnSpPr>
            <p:nvPr/>
          </p:nvCxnSpPr>
          <p:spPr>
            <a:xfrm>
              <a:off x="5709220" y="1634701"/>
              <a:ext cx="400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01CACA02-0636-03C9-7196-789C83E62FDE}"/>
                </a:ext>
              </a:extLst>
            </p:cNvPr>
            <p:cNvSpPr/>
            <p:nvPr/>
          </p:nvSpPr>
          <p:spPr>
            <a:xfrm>
              <a:off x="1947286" y="1191056"/>
              <a:ext cx="3847065" cy="85004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4D4AF5AF-A64B-A13A-05A4-484027F43080}"/>
                </a:ext>
              </a:extLst>
            </p:cNvPr>
            <p:cNvCxnSpPr>
              <a:cxnSpLocks/>
              <a:endCxn id="12" idx="5"/>
            </p:cNvCxnSpPr>
            <p:nvPr/>
          </p:nvCxnSpPr>
          <p:spPr>
            <a:xfrm>
              <a:off x="1462203" y="3185716"/>
              <a:ext cx="9110282" cy="366652"/>
            </a:xfrm>
            <a:prstGeom prst="bentConnector3">
              <a:avLst>
                <a:gd name="adj1" fmla="val 7565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>
              <a:extLst>
                <a:ext uri="{FF2B5EF4-FFF2-40B4-BE49-F238E27FC236}">
                  <a16:creationId xmlns:a16="http://schemas.microsoft.com/office/drawing/2014/main" id="{9163CB86-EB09-E943-1AA3-CAD96D0837F3}"/>
                </a:ext>
              </a:extLst>
            </p:cNvPr>
            <p:cNvCxnSpPr>
              <a:cxnSpLocks/>
              <a:endCxn id="5" idx="5"/>
            </p:cNvCxnSpPr>
            <p:nvPr/>
          </p:nvCxnSpPr>
          <p:spPr>
            <a:xfrm flipV="1">
              <a:off x="1503450" y="2677736"/>
              <a:ext cx="1259171" cy="23991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79204399-83D8-50CB-351A-A4C4DA919FB6}"/>
                </a:ext>
              </a:extLst>
            </p:cNvPr>
            <p:cNvSpPr/>
            <p:nvPr/>
          </p:nvSpPr>
          <p:spPr>
            <a:xfrm>
              <a:off x="165974" y="2538086"/>
              <a:ext cx="1482815" cy="9958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sp>
          <p:nvSpPr>
            <p:cNvPr id="182" name="Rounded Rectangle 181">
              <a:extLst>
                <a:ext uri="{FF2B5EF4-FFF2-40B4-BE49-F238E27FC236}">
                  <a16:creationId xmlns:a16="http://schemas.microsoft.com/office/drawing/2014/main" id="{4E095F73-4EBB-BFE1-C5BF-D3324F6BF4D6}"/>
                </a:ext>
              </a:extLst>
            </p:cNvPr>
            <p:cNvSpPr/>
            <p:nvPr/>
          </p:nvSpPr>
          <p:spPr>
            <a:xfrm>
              <a:off x="10312002" y="1030910"/>
              <a:ext cx="1499287" cy="5117133"/>
            </a:xfrm>
            <a:prstGeom prst="roundRect">
              <a:avLst/>
            </a:prstGeom>
            <a:solidFill>
              <a:srgbClr val="C089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9F233B7-49D4-26FB-9D33-F694947C4DE9}"/>
                </a:ext>
              </a:extLst>
            </p:cNvPr>
            <p:cNvCxnSpPr>
              <a:cxnSpLocks/>
            </p:cNvCxnSpPr>
            <p:nvPr/>
          </p:nvCxnSpPr>
          <p:spPr>
            <a:xfrm>
              <a:off x="9005868" y="5575442"/>
              <a:ext cx="15190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BEB27FB-4BB9-72A0-006F-F05BE58C8016}"/>
                </a:ext>
              </a:extLst>
            </p:cNvPr>
            <p:cNvCxnSpPr>
              <a:cxnSpLocks/>
            </p:cNvCxnSpPr>
            <p:nvPr/>
          </p:nvCxnSpPr>
          <p:spPr>
            <a:xfrm>
              <a:off x="9005868" y="4498581"/>
              <a:ext cx="15190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6F58A6D-3E05-5284-C0A5-91E9BA6B09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62203" y="4531058"/>
              <a:ext cx="4860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994FBDFD-9B4E-C1EC-B817-05226E7A39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95880" y="2647164"/>
              <a:ext cx="588202" cy="843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8" name="Rounded Rectangle 1047">
              <a:extLst>
                <a:ext uri="{FF2B5EF4-FFF2-40B4-BE49-F238E27FC236}">
                  <a16:creationId xmlns:a16="http://schemas.microsoft.com/office/drawing/2014/main" id="{DC78BFEF-FDC5-889E-1047-69213847F7CB}"/>
                </a:ext>
              </a:extLst>
            </p:cNvPr>
            <p:cNvSpPr/>
            <p:nvPr/>
          </p:nvSpPr>
          <p:spPr>
            <a:xfrm>
              <a:off x="7977095" y="3972235"/>
              <a:ext cx="1482815" cy="9958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sp>
          <p:nvSpPr>
            <p:cNvPr id="5" name="Parallelogram 4">
              <a:extLst>
                <a:ext uri="{FF2B5EF4-FFF2-40B4-BE49-F238E27FC236}">
                  <a16:creationId xmlns:a16="http://schemas.microsoft.com/office/drawing/2014/main" id="{5BE055D7-5CCA-7D1A-9AAF-711B0961FBFE}"/>
                </a:ext>
              </a:extLst>
            </p:cNvPr>
            <p:cNvSpPr/>
            <p:nvPr/>
          </p:nvSpPr>
          <p:spPr>
            <a:xfrm>
              <a:off x="2674092" y="2323621"/>
              <a:ext cx="1253965" cy="708229"/>
            </a:xfrm>
            <a:prstGeom prst="parallelogram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comment text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F186EF-E3DD-415E-D565-F3C9615F713B}"/>
                </a:ext>
              </a:extLst>
            </p:cNvPr>
            <p:cNvSpPr/>
            <p:nvPr/>
          </p:nvSpPr>
          <p:spPr>
            <a:xfrm>
              <a:off x="10522940" y="5146865"/>
              <a:ext cx="1102679" cy="788229"/>
            </a:xfrm>
            <a:prstGeom prst="rect">
              <a:avLst/>
            </a:prstGeom>
            <a:solidFill>
              <a:srgbClr val="894D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F3FE337F-DD25-C4E1-5D40-C88D2774BE05}"/>
                </a:ext>
              </a:extLst>
            </p:cNvPr>
            <p:cNvSpPr/>
            <p:nvPr/>
          </p:nvSpPr>
          <p:spPr>
            <a:xfrm>
              <a:off x="10505274" y="1248059"/>
              <a:ext cx="1120345" cy="714460"/>
            </a:xfrm>
            <a:prstGeom prst="parallelogram">
              <a:avLst/>
            </a:prstGeom>
            <a:solidFill>
              <a:srgbClr val="894D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topics</a:t>
              </a:r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A05854D5-B58C-FC62-1D39-5CE953C8BE2F}"/>
                </a:ext>
              </a:extLst>
            </p:cNvPr>
            <p:cNvSpPr/>
            <p:nvPr/>
          </p:nvSpPr>
          <p:spPr>
            <a:xfrm>
              <a:off x="10509059" y="2266347"/>
              <a:ext cx="1102678" cy="657567"/>
            </a:xfrm>
            <a:prstGeom prst="parallelogram">
              <a:avLst/>
            </a:prstGeom>
            <a:solidFill>
              <a:srgbClr val="894D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sentiment scores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AD97CB3-DFDE-4D43-5329-AB698C416BF8}"/>
                </a:ext>
              </a:extLst>
            </p:cNvPr>
            <p:cNvSpPr/>
            <p:nvPr/>
          </p:nvSpPr>
          <p:spPr>
            <a:xfrm>
              <a:off x="2051592" y="1304135"/>
              <a:ext cx="1074523" cy="6237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chunk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1194234-2539-A37F-3FBA-A11C8EE56BDF}"/>
                </a:ext>
              </a:extLst>
            </p:cNvPr>
            <p:cNvSpPr/>
            <p:nvPr/>
          </p:nvSpPr>
          <p:spPr>
            <a:xfrm>
              <a:off x="10492842" y="3233795"/>
              <a:ext cx="1102678" cy="637145"/>
            </a:xfrm>
            <a:prstGeom prst="parallelogram">
              <a:avLst/>
            </a:prstGeom>
            <a:solidFill>
              <a:srgbClr val="894D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dirty="0">
                <a:solidFill>
                  <a:schemeClr val="bg1"/>
                </a:solidFill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F52331-1FD3-8B8B-D087-79DA18481045}"/>
                </a:ext>
              </a:extLst>
            </p:cNvPr>
            <p:cNvSpPr/>
            <p:nvPr/>
          </p:nvSpPr>
          <p:spPr>
            <a:xfrm>
              <a:off x="3244018" y="1309342"/>
              <a:ext cx="1225377" cy="6237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generate soft-labelled set 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6683D85-FE89-9106-87F3-A0641F6C5C39}"/>
                </a:ext>
              </a:extLst>
            </p:cNvPr>
            <p:cNvSpPr/>
            <p:nvPr/>
          </p:nvSpPr>
          <p:spPr>
            <a:xfrm>
              <a:off x="4583180" y="1304135"/>
              <a:ext cx="1074523" cy="6237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ysClr val="windowText" lastClr="000000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train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2067F4-4607-26B0-30A4-9438C9FC05F4}"/>
                </a:ext>
              </a:extLst>
            </p:cNvPr>
            <p:cNvSpPr txBox="1"/>
            <p:nvPr/>
          </p:nvSpPr>
          <p:spPr>
            <a:xfrm>
              <a:off x="1944687" y="1008461"/>
              <a:ext cx="38496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weak learning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507DCB1-5408-F539-012E-1C560D5D4F09}"/>
                </a:ext>
              </a:extLst>
            </p:cNvPr>
            <p:cNvSpPr txBox="1"/>
            <p:nvPr/>
          </p:nvSpPr>
          <p:spPr>
            <a:xfrm>
              <a:off x="118519" y="2530996"/>
              <a:ext cx="1554750" cy="880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community </a:t>
              </a:r>
            </a:p>
            <a:p>
              <a:pPr algn="ctr">
                <a:lnSpc>
                  <a:spcPct val="150000"/>
                </a:lnSpc>
              </a:pPr>
              <a:r>
                <a:rPr 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comments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7D71351-DB11-9EF9-1118-5CEB938961E3}"/>
                </a:ext>
              </a:extLst>
            </p:cNvPr>
            <p:cNvSpPr txBox="1"/>
            <p:nvPr/>
          </p:nvSpPr>
          <p:spPr>
            <a:xfrm>
              <a:off x="118519" y="2734938"/>
              <a:ext cx="15547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i="1" dirty="0">
                  <a:solidFill>
                    <a:srgbClr val="F657C9"/>
                  </a:solidFill>
                  <a:latin typeface="AngsanaUPC" panose="020B0604020202020204" pitchFamily="34" charset="0"/>
                  <a:cs typeface="AngsanaUPC" panose="020B0604020202020204" pitchFamily="34" charset="0"/>
                </a:rPr>
                <a:t>web-scraped</a:t>
              </a:r>
              <a:endParaRPr lang="en-US" sz="2800" dirty="0">
                <a:solidFill>
                  <a:srgbClr val="F657C9"/>
                </a:solidFill>
              </a:endParaRPr>
            </a:p>
          </p:txBody>
        </p:sp>
        <p:pic>
          <p:nvPicPr>
            <p:cNvPr id="66" name="Picture 65" descr="A logo with colorful dots and lines&#10;&#10;AI-generated content may be incorrect.">
              <a:extLst>
                <a:ext uri="{FF2B5EF4-FFF2-40B4-BE49-F238E27FC236}">
                  <a16:creationId xmlns:a16="http://schemas.microsoft.com/office/drawing/2014/main" id="{5F7AA59E-8505-E2E4-9F4D-639E3A6B6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98607" y="4076815"/>
              <a:ext cx="1256270" cy="802617"/>
            </a:xfrm>
            <a:prstGeom prst="rect">
              <a:avLst/>
            </a:prstGeom>
            <a:ln>
              <a:noFill/>
            </a:ln>
          </p:spPr>
        </p:pic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4BB85F3F-9E48-C736-1DB1-B8434E207FFF}"/>
                </a:ext>
              </a:extLst>
            </p:cNvPr>
            <p:cNvSpPr/>
            <p:nvPr/>
          </p:nvSpPr>
          <p:spPr>
            <a:xfrm>
              <a:off x="10522941" y="4187084"/>
              <a:ext cx="1102678" cy="637145"/>
            </a:xfrm>
            <a:prstGeom prst="rect">
              <a:avLst/>
            </a:prstGeom>
            <a:solidFill>
              <a:srgbClr val="894D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planning application</a:t>
              </a:r>
            </a:p>
            <a:p>
              <a:pPr algn="ctr"/>
              <a:r>
                <a:rPr lang="en-US" sz="1100" dirty="0">
                  <a:solidFill>
                    <a:schemeClr val="bg1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details</a:t>
              </a:r>
            </a:p>
          </p:txBody>
        </p:sp>
        <p:sp>
          <p:nvSpPr>
            <p:cNvPr id="139" name="Parallelogram 138">
              <a:extLst>
                <a:ext uri="{FF2B5EF4-FFF2-40B4-BE49-F238E27FC236}">
                  <a16:creationId xmlns:a16="http://schemas.microsoft.com/office/drawing/2014/main" id="{2C8B0943-1092-20C2-9245-9806310D500F}"/>
                </a:ext>
              </a:extLst>
            </p:cNvPr>
            <p:cNvSpPr/>
            <p:nvPr/>
          </p:nvSpPr>
          <p:spPr>
            <a:xfrm>
              <a:off x="1815033" y="4163944"/>
              <a:ext cx="1286396" cy="719883"/>
            </a:xfrm>
            <a:prstGeom prst="parallelogram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planning application IDs</a:t>
              </a: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2284D125-633F-7C99-2F93-9C488BADFDDB}"/>
                </a:ext>
              </a:extLst>
            </p:cNvPr>
            <p:cNvSpPr/>
            <p:nvPr/>
          </p:nvSpPr>
          <p:spPr>
            <a:xfrm>
              <a:off x="372203" y="4233517"/>
              <a:ext cx="1102678" cy="637145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web-scraping pipeline</a:t>
              </a:r>
            </a:p>
          </p:txBody>
        </p:sp>
        <p:sp>
          <p:nvSpPr>
            <p:cNvPr id="1051" name="Rounded Rectangle 1050">
              <a:extLst>
                <a:ext uri="{FF2B5EF4-FFF2-40B4-BE49-F238E27FC236}">
                  <a16:creationId xmlns:a16="http://schemas.microsoft.com/office/drawing/2014/main" id="{0069CD0A-230B-6742-3D3B-CD8D94031E58}"/>
                </a:ext>
              </a:extLst>
            </p:cNvPr>
            <p:cNvSpPr/>
            <p:nvPr/>
          </p:nvSpPr>
          <p:spPr>
            <a:xfrm>
              <a:off x="7977095" y="5039140"/>
              <a:ext cx="1482815" cy="9958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CMU Sans Serif Medium" panose="02000603000000000000" pitchFamily="2" charset="0"/>
                <a:ea typeface="CMU Sans Serif Medium" panose="02000603000000000000" pitchFamily="2" charset="0"/>
                <a:cs typeface="CMU Sans Serif Medium" panose="02000603000000000000" pitchFamily="2" charset="0"/>
              </a:endParaRPr>
            </a:p>
          </p:txBody>
        </p:sp>
        <p:pic>
          <p:nvPicPr>
            <p:cNvPr id="1026" name="Picture 2" descr="2021–2022 United Kingdom censuses - Wikipedia">
              <a:extLst>
                <a:ext uri="{FF2B5EF4-FFF2-40B4-BE49-F238E27FC236}">
                  <a16:creationId xmlns:a16="http://schemas.microsoft.com/office/drawing/2014/main" id="{852F210A-1E87-ABC9-9E05-619DA7D825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9589" y="5313640"/>
              <a:ext cx="1123349" cy="4437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5" name="Elbow Connector 174">
              <a:extLst>
                <a:ext uri="{FF2B5EF4-FFF2-40B4-BE49-F238E27FC236}">
                  <a16:creationId xmlns:a16="http://schemas.microsoft.com/office/drawing/2014/main" id="{D38D3062-AE30-73E8-FBA2-60E42FB09C3E}"/>
                </a:ext>
              </a:extLst>
            </p:cNvPr>
            <p:cNvCxnSpPr>
              <a:cxnSpLocks/>
              <a:stCxn id="3" idx="0"/>
              <a:endCxn id="172" idx="2"/>
            </p:cNvCxnSpPr>
            <p:nvPr/>
          </p:nvCxnSpPr>
          <p:spPr>
            <a:xfrm rot="16200000" flipV="1">
              <a:off x="4799063" y="1112859"/>
              <a:ext cx="282518" cy="2139006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29F9E86D-FBB8-D2DB-EFF9-1F173795ED99}"/>
                </a:ext>
              </a:extLst>
            </p:cNvPr>
            <p:cNvSpPr txBox="1"/>
            <p:nvPr/>
          </p:nvSpPr>
          <p:spPr>
            <a:xfrm rot="16200000">
              <a:off x="10936542" y="4913522"/>
              <a:ext cx="19659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variables used in analysis</a:t>
              </a:r>
            </a:p>
          </p:txBody>
        </p:sp>
        <p:sp>
          <p:nvSpPr>
            <p:cNvPr id="1035" name="TextBox 1034">
              <a:extLst>
                <a:ext uri="{FF2B5EF4-FFF2-40B4-BE49-F238E27FC236}">
                  <a16:creationId xmlns:a16="http://schemas.microsoft.com/office/drawing/2014/main" id="{5DD27A08-DCFB-75BD-1B9E-5C67539B92CA}"/>
                </a:ext>
              </a:extLst>
            </p:cNvPr>
            <p:cNvSpPr txBox="1"/>
            <p:nvPr/>
          </p:nvSpPr>
          <p:spPr>
            <a:xfrm>
              <a:off x="8868715" y="2117660"/>
              <a:ext cx="115002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All-MiniLM-L6-v2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82802F0-4D7C-B5BF-634A-F97082826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0392" y="3533949"/>
              <a:ext cx="0" cy="7189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8E873633-55BC-5B33-D852-6CF0D1261799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flipV="1">
              <a:off x="6454850" y="1978199"/>
              <a:ext cx="1627574" cy="54370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D913903-7FED-AD43-9EDE-7317190C1F0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322" y="2644139"/>
              <a:ext cx="242850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5356EBF-F5C2-BE4B-24FA-19A38DD908B5}"/>
                </a:ext>
              </a:extLst>
            </p:cNvPr>
            <p:cNvCxnSpPr>
              <a:cxnSpLocks/>
            </p:cNvCxnSpPr>
            <p:nvPr/>
          </p:nvCxnSpPr>
          <p:spPr>
            <a:xfrm>
              <a:off x="10003042" y="2609414"/>
              <a:ext cx="6179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0F32E9CA-5F74-AE22-553F-842A4BA68AC1}"/>
                </a:ext>
              </a:extLst>
            </p:cNvPr>
            <p:cNvCxnSpPr>
              <a:cxnSpLocks/>
            </p:cNvCxnSpPr>
            <p:nvPr/>
          </p:nvCxnSpPr>
          <p:spPr>
            <a:xfrm>
              <a:off x="10003042" y="1659985"/>
              <a:ext cx="61792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26A2DCBF-2340-66B2-A591-E3A0973EA66A}"/>
                </a:ext>
              </a:extLst>
            </p:cNvPr>
            <p:cNvCxnSpPr>
              <a:cxnSpLocks/>
            </p:cNvCxnSpPr>
            <p:nvPr/>
          </p:nvCxnSpPr>
          <p:spPr>
            <a:xfrm>
              <a:off x="8521714" y="1634701"/>
              <a:ext cx="400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1D13E44D-441E-98B2-CFA4-4A522ECE5E54}"/>
                </a:ext>
              </a:extLst>
            </p:cNvPr>
            <p:cNvCxnSpPr>
              <a:cxnSpLocks/>
            </p:cNvCxnSpPr>
            <p:nvPr/>
          </p:nvCxnSpPr>
          <p:spPr>
            <a:xfrm>
              <a:off x="7133336" y="1634701"/>
              <a:ext cx="40087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Parallelogram 2">
              <a:extLst>
                <a:ext uri="{FF2B5EF4-FFF2-40B4-BE49-F238E27FC236}">
                  <a16:creationId xmlns:a16="http://schemas.microsoft.com/office/drawing/2014/main" id="{42B78AF9-3C0C-AE9C-CD0A-C42187BC2EDE}"/>
                </a:ext>
              </a:extLst>
            </p:cNvPr>
            <p:cNvSpPr/>
            <p:nvPr/>
          </p:nvSpPr>
          <p:spPr>
            <a:xfrm>
              <a:off x="5382842" y="2323621"/>
              <a:ext cx="1253965" cy="708229"/>
            </a:xfrm>
            <a:prstGeom prst="parallelogram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cleaned comment text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92DCB18-7586-F217-0D41-E0B01C3A3E5C}"/>
                </a:ext>
              </a:extLst>
            </p:cNvPr>
            <p:cNvSpPr/>
            <p:nvPr/>
          </p:nvSpPr>
          <p:spPr>
            <a:xfrm>
              <a:off x="8915827" y="2285490"/>
              <a:ext cx="1102678" cy="657567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sentiment model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44448E6-D959-4B0E-1D9A-06B8B7FFA12E}"/>
                </a:ext>
              </a:extLst>
            </p:cNvPr>
            <p:cNvSpPr/>
            <p:nvPr/>
          </p:nvSpPr>
          <p:spPr>
            <a:xfrm>
              <a:off x="8915827" y="1265546"/>
              <a:ext cx="1120345" cy="714460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manual topic reduction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403BE5-EB04-AAE4-94F1-3650BA5CA24C}"/>
                </a:ext>
              </a:extLst>
            </p:cNvPr>
            <p:cNvSpPr/>
            <p:nvPr/>
          </p:nvSpPr>
          <p:spPr>
            <a:xfrm>
              <a:off x="7522251" y="1263739"/>
              <a:ext cx="1120345" cy="714460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topic model</a:t>
              </a:r>
            </a:p>
          </p:txBody>
        </p:sp>
        <p:sp>
          <p:nvSpPr>
            <p:cNvPr id="2" name="Parallelogram 1">
              <a:extLst>
                <a:ext uri="{FF2B5EF4-FFF2-40B4-BE49-F238E27FC236}">
                  <a16:creationId xmlns:a16="http://schemas.microsoft.com/office/drawing/2014/main" id="{C0B718A1-71B2-9810-8E2C-C0AF7B27300A}"/>
                </a:ext>
              </a:extLst>
            </p:cNvPr>
            <p:cNvSpPr/>
            <p:nvPr/>
          </p:nvSpPr>
          <p:spPr>
            <a:xfrm>
              <a:off x="6014431" y="1252042"/>
              <a:ext cx="1253965" cy="708229"/>
            </a:xfrm>
            <a:prstGeom prst="parallelogram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fine-tuned sentence transformer</a:t>
              </a:r>
            </a:p>
          </p:txBody>
        </p:sp>
        <p:sp>
          <p:nvSpPr>
            <p:cNvPr id="1034" name="TextBox 1033">
              <a:extLst>
                <a:ext uri="{FF2B5EF4-FFF2-40B4-BE49-F238E27FC236}">
                  <a16:creationId xmlns:a16="http://schemas.microsoft.com/office/drawing/2014/main" id="{07C08A38-16A6-F55C-9808-9BAF2A46DEF8}"/>
                </a:ext>
              </a:extLst>
            </p:cNvPr>
            <p:cNvSpPr txBox="1"/>
            <p:nvPr/>
          </p:nvSpPr>
          <p:spPr>
            <a:xfrm>
              <a:off x="7522251" y="1098774"/>
              <a:ext cx="111774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BERTopic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481ED49-417E-76A2-6981-4241EC0A4B42}"/>
                </a:ext>
              </a:extLst>
            </p:cNvPr>
            <p:cNvSpPr txBox="1"/>
            <p:nvPr/>
          </p:nvSpPr>
          <p:spPr>
            <a:xfrm>
              <a:off x="10414953" y="3435784"/>
              <a:ext cx="1258455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coordinates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9141F96-08AA-7AAF-9314-2EF7E2912FD6}"/>
                </a:ext>
              </a:extLst>
            </p:cNvPr>
            <p:cNvSpPr txBox="1"/>
            <p:nvPr/>
          </p:nvSpPr>
          <p:spPr>
            <a:xfrm>
              <a:off x="10393158" y="5350575"/>
              <a:ext cx="1364222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/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sociodemographic variables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2E8F593-22EE-EBCA-AC46-8AC3256B51CD}"/>
                </a:ext>
              </a:extLst>
            </p:cNvPr>
            <p:cNvSpPr/>
            <p:nvPr/>
          </p:nvSpPr>
          <p:spPr>
            <a:xfrm>
              <a:off x="4071763" y="2334265"/>
              <a:ext cx="1120345" cy="714460"/>
            </a:xfrm>
            <a:prstGeom prst="rect">
              <a:avLst/>
            </a:prstGeom>
            <a:solidFill>
              <a:srgbClr val="8686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anonymisation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F3EABED-67C3-4F85-7E89-E25279217614}"/>
                </a:ext>
              </a:extLst>
            </p:cNvPr>
            <p:cNvSpPr txBox="1"/>
            <p:nvPr/>
          </p:nvSpPr>
          <p:spPr>
            <a:xfrm>
              <a:off x="4127181" y="2178094"/>
              <a:ext cx="111774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000" i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CMU Sans Serif Medium" panose="02000603000000000000" pitchFamily="2" charset="0"/>
                  <a:ea typeface="CMU Sans Serif Medium" panose="02000603000000000000" pitchFamily="2" charset="0"/>
                  <a:cs typeface="CMU Sans Serif Medium" panose="02000603000000000000" pitchFamily="2" charset="0"/>
                </a:rPr>
                <a:t>NER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0780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190</Words>
  <Application>Microsoft Macintosh PowerPoint</Application>
  <PresentationFormat>Widescreen</PresentationFormat>
  <Paragraphs>100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AngsanaUPC</vt:lpstr>
      <vt:lpstr>Aptos</vt:lpstr>
      <vt:lpstr>Aptos Display</vt:lpstr>
      <vt:lpstr>Arial</vt:lpstr>
      <vt:lpstr>Calibri</vt:lpstr>
      <vt:lpstr>CMU Sans Serif Medium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Taylor, Beatrice</dc:creator>
  <cp:lastModifiedBy>Beatrice Taylor</cp:lastModifiedBy>
  <cp:revision>6</cp:revision>
  <dcterms:created xsi:type="dcterms:W3CDTF">2026-01-22T11:01:52Z</dcterms:created>
  <dcterms:modified xsi:type="dcterms:W3CDTF">2026-02-24T17:39:32Z</dcterms:modified>
</cp:coreProperties>
</file>