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4" r:id="rId2"/>
    <p:sldId id="33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8686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6"/>
    <p:restoredTop sz="94648"/>
  </p:normalViewPr>
  <p:slideViewPr>
    <p:cSldViewPr snapToGrid="0">
      <p:cViewPr varScale="1">
        <p:scale>
          <a:sx n="117" d="100"/>
          <a:sy n="117" d="100"/>
        </p:scale>
        <p:origin x="-1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01B9-83EE-286A-D180-179969CB2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1A68-1168-4663-E30B-D30540AE8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66AC-2CBD-6C66-EA25-A7BB9CE4E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79A6B-8A37-FFE8-3AB9-6F203374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20B13-66A9-E6D2-84D9-7E5C11B7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4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F64F-1DD1-240D-E013-62936381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830E1-2B79-83EF-58D9-311D87EEC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32A60-1C43-52B4-FC18-47D12573A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9C510-397B-01BC-3BE3-B51072FE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ECDE-0CBB-6823-0A19-96CC4B100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1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C9EEA-3EF4-D9B1-E629-F9E13817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49FC5-2EEC-E881-D966-AA00673B2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F8CD-BED9-0BED-1C72-AD49AF8C6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21DB-8661-9E91-7A49-B87B6372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99A46-07B5-D4E0-E7F4-6832E359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4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7AE0-F78E-42B0-6D5B-F55C5EC4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AA657-E48F-7677-A0E5-B49F0D2EC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416F6-0006-9D01-8D8F-CAA2C02CC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B8E4F-525E-7DCE-6142-6B549B50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35EFA-9A0A-A880-0DBC-AD09C485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B2342-4BC1-522B-904F-12CC4960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6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117A-2F31-EADE-47DA-12361466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BA3A7-6E4D-8921-51DF-E91C73D2C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F7F66-2F68-26C5-877C-B39AA4206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4173D-942D-AA54-C0D8-BD371F265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A4248-993F-F8C0-3495-8382192B1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EE8B3-F656-888B-3F0D-2B77E6BF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9AABE5-BAAF-8B20-1D2F-F9F5F2A5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D60598-83E6-E456-F5FF-05AD4D18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8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32C5-3866-3666-A16D-FC823C6F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38675-A10D-570B-47B9-D408F36E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9DBBC-A6C6-4EE5-95A5-7A94E47C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01B30-0BF2-6146-FED9-B3A665C7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5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D2617B-C0F7-687D-1A7F-4EFF02DF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9885E-91BA-6CD5-98EF-30E3EA85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EA1EC-5580-722C-D9EF-78FE428B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5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6B11-34A3-CDEE-2794-6A360CFAE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AA016-E0C0-D69C-B37C-3C16BDCF5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BCE07-9402-03DE-4F67-BEBA50E8D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2DB47-1A29-8F11-DEE3-5F71E399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9FBAB-6259-EF73-72A5-8140192E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5BE92-5EA8-D856-DF54-60B6CFB8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3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6375-3821-F534-2635-76D97E69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4EF37-0AB5-E052-F08A-A1D4970C1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9DC8D-8E0E-AF11-2978-A33236931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76A85-71F3-B164-C0FE-4C897BAA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17B07-F3C8-98A3-BD8D-0C309A4D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68631-A807-D6B9-974C-58283501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4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582E-B367-F231-4DC0-BFF7C2E31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27EE3-2482-2BF3-23B9-D7CFA1246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778BC-7EBE-78C5-7505-03CF0F06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6833A-28A7-7EB1-7121-127269F6E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86508-8058-2C1E-2B6B-F18D4B38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4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60B62-0274-8E0C-033F-55BF4FD66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37842-9CCF-D004-5B87-F61A31F97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A2099-C3BE-A2F3-2FE0-ECAF9C342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40167-CBE2-B3B1-4484-D2A9A692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B80B7-D45D-5BE5-73EE-FB144F5A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00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CL single tex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12" name="Text" descr="Text">
            <a:extLst>
              <a:ext uri="{FF2B5EF4-FFF2-40B4-BE49-F238E27FC236}">
                <a16:creationId xmlns:a16="http://schemas.microsoft.com/office/drawing/2014/main" id="{52E39625-6121-A140-A00B-27BF9DA232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10439064" cy="3600000"/>
          </a:xfrm>
        </p:spPr>
        <p:txBody>
          <a:bodyPr/>
          <a:lstStyle>
            <a:lvl1pPr marL="225425" marR="0" indent="-2254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  <a:lvl2pPr marL="222250" indent="-2222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76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BC01DF-2F50-AAA5-CE35-6B2E7463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E7105-85DF-9B0D-69F2-6A465555C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45F5C-A512-B4A9-ED4D-886287193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ABC-66B6-7D48-895A-91141157335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8AA3F-AD24-672A-EF14-8F8B28DB7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2C14D-CC45-15A7-1EA8-5744F471C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6B525-D5B7-2142-9CA7-005B2ED96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2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Rounded Rectangle 1050">
            <a:extLst>
              <a:ext uri="{FF2B5EF4-FFF2-40B4-BE49-F238E27FC236}">
                <a16:creationId xmlns:a16="http://schemas.microsoft.com/office/drawing/2014/main" id="{103A1500-B4BF-19EE-5A17-F022BF78209B}"/>
              </a:ext>
            </a:extLst>
          </p:cNvPr>
          <p:cNvSpPr/>
          <p:nvPr/>
        </p:nvSpPr>
        <p:spPr>
          <a:xfrm>
            <a:off x="7081234" y="5096063"/>
            <a:ext cx="1482815" cy="995863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048" name="Rounded Rectangle 1047">
            <a:extLst>
              <a:ext uri="{FF2B5EF4-FFF2-40B4-BE49-F238E27FC236}">
                <a16:creationId xmlns:a16="http://schemas.microsoft.com/office/drawing/2014/main" id="{1EA7E0EA-9EFB-39CC-57F4-38E0F657209E}"/>
              </a:ext>
            </a:extLst>
          </p:cNvPr>
          <p:cNvSpPr/>
          <p:nvPr/>
        </p:nvSpPr>
        <p:spPr>
          <a:xfrm>
            <a:off x="7081234" y="3964460"/>
            <a:ext cx="1482815" cy="995863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E60C9415-8CB4-675C-C628-F2B29DF18ECD}"/>
              </a:ext>
            </a:extLst>
          </p:cNvPr>
          <p:cNvSpPr/>
          <p:nvPr/>
        </p:nvSpPr>
        <p:spPr>
          <a:xfrm>
            <a:off x="9432324" y="1064049"/>
            <a:ext cx="1499287" cy="5027877"/>
          </a:xfrm>
          <a:prstGeom prst="roundRect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4D3A915-EB40-2A4E-FA99-0DAF91E21F6E}"/>
              </a:ext>
            </a:extLst>
          </p:cNvPr>
          <p:cNvSpPr/>
          <p:nvPr/>
        </p:nvSpPr>
        <p:spPr>
          <a:xfrm>
            <a:off x="1067608" y="1191056"/>
            <a:ext cx="3847065" cy="850047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EEAC210-C719-B1CB-89F3-E7554E83CC22}"/>
              </a:ext>
            </a:extLst>
          </p:cNvPr>
          <p:cNvSpPr/>
          <p:nvPr/>
        </p:nvSpPr>
        <p:spPr>
          <a:xfrm>
            <a:off x="3032907" y="2497245"/>
            <a:ext cx="1253965" cy="708229"/>
          </a:xfrm>
          <a:prstGeom prst="parallelogram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comment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64B8F-98B0-71AF-1944-5AA1C6D8EF56}"/>
              </a:ext>
            </a:extLst>
          </p:cNvPr>
          <p:cNvSpPr/>
          <p:nvPr/>
        </p:nvSpPr>
        <p:spPr>
          <a:xfrm>
            <a:off x="9643262" y="5096063"/>
            <a:ext cx="1102679" cy="788229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socioeconomic variables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928254C-BCD8-9C33-ED24-5BD1A96902C2}"/>
              </a:ext>
            </a:extLst>
          </p:cNvPr>
          <p:cNvSpPr/>
          <p:nvPr/>
        </p:nvSpPr>
        <p:spPr>
          <a:xfrm>
            <a:off x="9625596" y="1248059"/>
            <a:ext cx="1120345" cy="714460"/>
          </a:xfrm>
          <a:prstGeom prst="parallelogram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topics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C6615DC-9F07-54A2-3249-DC50991457D5}"/>
              </a:ext>
            </a:extLst>
          </p:cNvPr>
          <p:cNvSpPr/>
          <p:nvPr/>
        </p:nvSpPr>
        <p:spPr>
          <a:xfrm>
            <a:off x="9629381" y="2266347"/>
            <a:ext cx="1102678" cy="657567"/>
          </a:xfrm>
          <a:prstGeom prst="parallelogram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sentiment scores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828165-6B9E-757A-D2D0-28108FE62420}"/>
              </a:ext>
            </a:extLst>
          </p:cNvPr>
          <p:cNvSpPr/>
          <p:nvPr/>
        </p:nvSpPr>
        <p:spPr>
          <a:xfrm>
            <a:off x="8036149" y="2285490"/>
            <a:ext cx="1102678" cy="657567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sentiment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3C175E-FAA9-D50C-CE34-4DAABD5BA875}"/>
              </a:ext>
            </a:extLst>
          </p:cNvPr>
          <p:cNvSpPr/>
          <p:nvPr/>
        </p:nvSpPr>
        <p:spPr>
          <a:xfrm>
            <a:off x="6642573" y="1263739"/>
            <a:ext cx="1120345" cy="714460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topic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D6D8A4-B967-B85E-B9C0-3C601A9CA2C6}"/>
              </a:ext>
            </a:extLst>
          </p:cNvPr>
          <p:cNvSpPr/>
          <p:nvPr/>
        </p:nvSpPr>
        <p:spPr>
          <a:xfrm>
            <a:off x="1171914" y="1304135"/>
            <a:ext cx="1074523" cy="623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chunk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C4227DA-501C-2BF4-0A1B-F279654A9CA5}"/>
              </a:ext>
            </a:extLst>
          </p:cNvPr>
          <p:cNvSpPr/>
          <p:nvPr/>
        </p:nvSpPr>
        <p:spPr>
          <a:xfrm>
            <a:off x="9629381" y="3288682"/>
            <a:ext cx="1102678" cy="637145"/>
          </a:xfrm>
          <a:prstGeom prst="parallelogram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co-ordinates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EF2742-6D43-BE71-A76B-0BF2A6408E83}"/>
              </a:ext>
            </a:extLst>
          </p:cNvPr>
          <p:cNvSpPr/>
          <p:nvPr/>
        </p:nvSpPr>
        <p:spPr>
          <a:xfrm>
            <a:off x="2364340" y="1309342"/>
            <a:ext cx="1225377" cy="623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generate soft-labelled set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5E7B67-F1B0-347C-045E-C1053587E298}"/>
              </a:ext>
            </a:extLst>
          </p:cNvPr>
          <p:cNvSpPr/>
          <p:nvPr/>
        </p:nvSpPr>
        <p:spPr>
          <a:xfrm>
            <a:off x="3703502" y="1304135"/>
            <a:ext cx="1074523" cy="623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train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D4463-C216-D97D-CDFC-6C3C43B711D1}"/>
              </a:ext>
            </a:extLst>
          </p:cNvPr>
          <p:cNvSpPr txBox="1"/>
          <p:nvPr/>
        </p:nvSpPr>
        <p:spPr>
          <a:xfrm>
            <a:off x="1022022" y="950586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weak learning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B171BA1-299A-CB16-6F72-AC241AB108AF}"/>
              </a:ext>
            </a:extLst>
          </p:cNvPr>
          <p:cNvSpPr/>
          <p:nvPr/>
        </p:nvSpPr>
        <p:spPr>
          <a:xfrm>
            <a:off x="802583" y="2538086"/>
            <a:ext cx="1482815" cy="995863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E3F107-D569-FD11-EE62-21D73895053C}"/>
              </a:ext>
            </a:extLst>
          </p:cNvPr>
          <p:cNvSpPr txBox="1"/>
          <p:nvPr/>
        </p:nvSpPr>
        <p:spPr>
          <a:xfrm>
            <a:off x="755128" y="2530996"/>
            <a:ext cx="155475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community 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54FD98-94BB-E951-E3D9-CB21409A20B0}"/>
              </a:ext>
            </a:extLst>
          </p:cNvPr>
          <p:cNvSpPr txBox="1"/>
          <p:nvPr/>
        </p:nvSpPr>
        <p:spPr>
          <a:xfrm>
            <a:off x="755128" y="2734938"/>
            <a:ext cx="1554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>
                  <a:srgbClr val="F657C9"/>
                </a:solidFill>
                <a:latin typeface="AngsanaUPC" panose="020B0604020202020204" pitchFamily="34" charset="0"/>
                <a:cs typeface="AngsanaUPC" panose="020B0604020202020204" pitchFamily="34" charset="0"/>
              </a:rPr>
              <a:t>web-scraped</a:t>
            </a:r>
            <a:endParaRPr lang="en-US" sz="2800" dirty="0">
              <a:solidFill>
                <a:srgbClr val="F657C9"/>
              </a:solidFill>
            </a:endParaRP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F314405-7671-40CB-00AB-87CAAF773413}"/>
              </a:ext>
            </a:extLst>
          </p:cNvPr>
          <p:cNvCxnSpPr>
            <a:cxnSpLocks/>
            <a:endCxn id="12" idx="5"/>
          </p:cNvCxnSpPr>
          <p:nvPr/>
        </p:nvCxnSpPr>
        <p:spPr>
          <a:xfrm>
            <a:off x="2258263" y="3185885"/>
            <a:ext cx="7450761" cy="421370"/>
          </a:xfrm>
          <a:prstGeom prst="bentConnector3">
            <a:avLst>
              <a:gd name="adj1" fmla="val 664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 descr="A logo with colorful dots and lines&#10;&#10;AI-generated content may be incorrect.">
            <a:extLst>
              <a:ext uri="{FF2B5EF4-FFF2-40B4-BE49-F238E27FC236}">
                <a16:creationId xmlns:a16="http://schemas.microsoft.com/office/drawing/2014/main" id="{25251E43-FDF5-81AA-A18C-0DCB7A78E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746" y="4069040"/>
            <a:ext cx="1256270" cy="802617"/>
          </a:xfrm>
          <a:prstGeom prst="rect">
            <a:avLst/>
          </a:prstGeom>
          <a:ln>
            <a:noFill/>
          </a:ln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917F0CC4-5557-4055-2EA8-E6580A8FB9C8}"/>
              </a:ext>
            </a:extLst>
          </p:cNvPr>
          <p:cNvSpPr/>
          <p:nvPr/>
        </p:nvSpPr>
        <p:spPr>
          <a:xfrm>
            <a:off x="8036149" y="1265546"/>
            <a:ext cx="1120345" cy="714460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manual topic reduction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A9C3361-3340-01EF-FA37-2ED99CFA513B}"/>
              </a:ext>
            </a:extLst>
          </p:cNvPr>
          <p:cNvSpPr/>
          <p:nvPr/>
        </p:nvSpPr>
        <p:spPr>
          <a:xfrm>
            <a:off x="9643263" y="4212485"/>
            <a:ext cx="1102678" cy="637145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details of planning application</a:t>
            </a:r>
          </a:p>
        </p:txBody>
      </p:sp>
      <p:sp>
        <p:nvSpPr>
          <p:cNvPr id="139" name="Parallelogram 138">
            <a:extLst>
              <a:ext uri="{FF2B5EF4-FFF2-40B4-BE49-F238E27FC236}">
                <a16:creationId xmlns:a16="http://schemas.microsoft.com/office/drawing/2014/main" id="{892A16F9-E901-5F06-7297-DB88D48721E3}"/>
              </a:ext>
            </a:extLst>
          </p:cNvPr>
          <p:cNvSpPr/>
          <p:nvPr/>
        </p:nvSpPr>
        <p:spPr>
          <a:xfrm>
            <a:off x="2428492" y="4163944"/>
            <a:ext cx="1286396" cy="719883"/>
          </a:xfrm>
          <a:prstGeom prst="parallelogram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planning application IDs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F58137B-12A3-98A6-4D7E-87E027D31F54}"/>
              </a:ext>
            </a:extLst>
          </p:cNvPr>
          <p:cNvSpPr/>
          <p:nvPr/>
        </p:nvSpPr>
        <p:spPr>
          <a:xfrm>
            <a:off x="985662" y="4233517"/>
            <a:ext cx="1102678" cy="637145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web-scraping pipeline</a:t>
            </a:r>
          </a:p>
        </p:txBody>
      </p:sp>
      <p:pic>
        <p:nvPicPr>
          <p:cNvPr id="1026" name="Picture 2" descr="2021–2022 United Kingdom censuses - Wikipedia">
            <a:extLst>
              <a:ext uri="{FF2B5EF4-FFF2-40B4-BE49-F238E27FC236}">
                <a16:creationId xmlns:a16="http://schemas.microsoft.com/office/drawing/2014/main" id="{2C41C9C5-30EF-C01A-0167-602BF713A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728" y="5370563"/>
            <a:ext cx="1123349" cy="443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D7367209-679A-996D-F1CA-2B62E0F3235A}"/>
              </a:ext>
            </a:extLst>
          </p:cNvPr>
          <p:cNvCxnSpPr>
            <a:cxnSpLocks/>
            <a:stCxn id="1036" idx="0"/>
            <a:endCxn id="172" idx="1"/>
          </p:cNvCxnSpPr>
          <p:nvPr/>
        </p:nvCxnSpPr>
        <p:spPr>
          <a:xfrm rot="16200000" flipV="1">
            <a:off x="2650466" y="33222"/>
            <a:ext cx="908716" cy="4074432"/>
          </a:xfrm>
          <a:prstGeom prst="bentConnector4">
            <a:avLst>
              <a:gd name="adj1" fmla="val 26614"/>
              <a:gd name="adj2" fmla="val 1056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13C56FB-08CB-2E5C-5209-5B7E3ECFDF0B}"/>
              </a:ext>
            </a:extLst>
          </p:cNvPr>
          <p:cNvSpPr txBox="1"/>
          <p:nvPr/>
        </p:nvSpPr>
        <p:spPr>
          <a:xfrm rot="16200000">
            <a:off x="10056864" y="4913522"/>
            <a:ext cx="1965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variables used in analysis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969CCDB6-3629-F7A0-666B-F55AD784A397}"/>
              </a:ext>
            </a:extLst>
          </p:cNvPr>
          <p:cNvSpPr txBox="1"/>
          <p:nvPr/>
        </p:nvSpPr>
        <p:spPr>
          <a:xfrm>
            <a:off x="7082733" y="1064050"/>
            <a:ext cx="7601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BERTopic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F4062D7-4436-A5DF-01A4-BE35F0586E6D}"/>
              </a:ext>
            </a:extLst>
          </p:cNvPr>
          <p:cNvSpPr txBox="1"/>
          <p:nvPr/>
        </p:nvSpPr>
        <p:spPr>
          <a:xfrm>
            <a:off x="8036149" y="2094510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All-MiniLM-L6-v2</a:t>
            </a: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31BFF34D-4668-62E9-78A4-6DAB3DA5272A}"/>
              </a:ext>
            </a:extLst>
          </p:cNvPr>
          <p:cNvSpPr/>
          <p:nvPr/>
        </p:nvSpPr>
        <p:spPr>
          <a:xfrm>
            <a:off x="4590701" y="2524796"/>
            <a:ext cx="1102678" cy="657567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remove names and addresses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AF703BEB-A54F-E960-2B8E-F88DABE8B4DE}"/>
              </a:ext>
            </a:extLst>
          </p:cNvPr>
          <p:cNvSpPr txBox="1"/>
          <p:nvPr/>
        </p:nvSpPr>
        <p:spPr>
          <a:xfrm>
            <a:off x="5340573" y="234109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NER</a:t>
            </a: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6DF9B8FA-E869-08D4-A23D-576A7C1CA99B}"/>
              </a:ext>
            </a:extLst>
          </p:cNvPr>
          <p:cNvSpPr/>
          <p:nvPr/>
        </p:nvSpPr>
        <p:spPr>
          <a:xfrm>
            <a:off x="5134753" y="1252042"/>
            <a:ext cx="1253965" cy="708229"/>
          </a:xfrm>
          <a:prstGeom prst="parallelogram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fine-tuned sentence transformer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2D388D7-49DA-3641-6DB2-16F611C85E7D}"/>
              </a:ext>
            </a:extLst>
          </p:cNvPr>
          <p:cNvCxnSpPr>
            <a:cxnSpLocks/>
          </p:cNvCxnSpPr>
          <p:nvPr/>
        </p:nvCxnSpPr>
        <p:spPr>
          <a:xfrm>
            <a:off x="8564049" y="4523886"/>
            <a:ext cx="103960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20CDCB5-5715-AB5D-B2E9-42660D1DD66B}"/>
              </a:ext>
            </a:extLst>
          </p:cNvPr>
          <p:cNvCxnSpPr>
            <a:cxnSpLocks/>
          </p:cNvCxnSpPr>
          <p:nvPr/>
        </p:nvCxnSpPr>
        <p:spPr>
          <a:xfrm>
            <a:off x="8573557" y="5492007"/>
            <a:ext cx="103960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2C5222-DEC6-25D3-814D-DC003357550A}"/>
              </a:ext>
            </a:extLst>
          </p:cNvPr>
          <p:cNvCxnSpPr>
            <a:cxnSpLocks/>
          </p:cNvCxnSpPr>
          <p:nvPr/>
        </p:nvCxnSpPr>
        <p:spPr>
          <a:xfrm flipH="1">
            <a:off x="3610143" y="4523886"/>
            <a:ext cx="34641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F83FE5-6E62-5716-F46F-DEC43EC53EC9}"/>
              </a:ext>
            </a:extLst>
          </p:cNvPr>
          <p:cNvCxnSpPr>
            <a:cxnSpLocks/>
          </p:cNvCxnSpPr>
          <p:nvPr/>
        </p:nvCxnSpPr>
        <p:spPr>
          <a:xfrm flipH="1">
            <a:off x="2052512" y="4531058"/>
            <a:ext cx="4860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9B2E84F-3B6C-7E83-DF0E-0CA269759799}"/>
              </a:ext>
            </a:extLst>
          </p:cNvPr>
          <p:cNvCxnSpPr>
            <a:cxnSpLocks/>
          </p:cNvCxnSpPr>
          <p:nvPr/>
        </p:nvCxnSpPr>
        <p:spPr>
          <a:xfrm flipV="1">
            <a:off x="1537001" y="3533949"/>
            <a:ext cx="0" cy="718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4B578E2-DA23-0A90-D25B-59E20A79E887}"/>
              </a:ext>
            </a:extLst>
          </p:cNvPr>
          <p:cNvCxnSpPr/>
          <p:nvPr/>
        </p:nvCxnSpPr>
        <p:spPr>
          <a:xfrm>
            <a:off x="2285398" y="2820788"/>
            <a:ext cx="8397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31BDF77-CFAD-F429-AD36-3098189C411E}"/>
              </a:ext>
            </a:extLst>
          </p:cNvPr>
          <p:cNvCxnSpPr>
            <a:cxnSpLocks/>
          </p:cNvCxnSpPr>
          <p:nvPr/>
        </p:nvCxnSpPr>
        <p:spPr>
          <a:xfrm>
            <a:off x="4189823" y="2829225"/>
            <a:ext cx="400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52B0FC5-88E4-03A5-BBC3-189C4D26212F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5664854" y="1978199"/>
            <a:ext cx="1537892" cy="70552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CD8C70C-2F65-133C-B597-448831871E4A}"/>
              </a:ext>
            </a:extLst>
          </p:cNvPr>
          <p:cNvCxnSpPr>
            <a:cxnSpLocks/>
          </p:cNvCxnSpPr>
          <p:nvPr/>
        </p:nvCxnSpPr>
        <p:spPr>
          <a:xfrm>
            <a:off x="5664854" y="2606163"/>
            <a:ext cx="2428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E4537F-C57D-84B4-F6E2-DC58A2BC7516}"/>
              </a:ext>
            </a:extLst>
          </p:cNvPr>
          <p:cNvCxnSpPr>
            <a:cxnSpLocks/>
          </p:cNvCxnSpPr>
          <p:nvPr/>
        </p:nvCxnSpPr>
        <p:spPr>
          <a:xfrm>
            <a:off x="9123364" y="2609414"/>
            <a:ext cx="617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BE5E22-8088-3FAF-05ED-4088C49A4DFC}"/>
              </a:ext>
            </a:extLst>
          </p:cNvPr>
          <p:cNvCxnSpPr>
            <a:cxnSpLocks/>
          </p:cNvCxnSpPr>
          <p:nvPr/>
        </p:nvCxnSpPr>
        <p:spPr>
          <a:xfrm>
            <a:off x="9123364" y="1659985"/>
            <a:ext cx="617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DF647DE-1703-1D16-B170-DAB84C4D5FCF}"/>
              </a:ext>
            </a:extLst>
          </p:cNvPr>
          <p:cNvCxnSpPr>
            <a:cxnSpLocks/>
          </p:cNvCxnSpPr>
          <p:nvPr/>
        </p:nvCxnSpPr>
        <p:spPr>
          <a:xfrm>
            <a:off x="7699911" y="1634701"/>
            <a:ext cx="400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B3EB69B-CF5C-65CA-ABAC-D1E8A20C9E4B}"/>
              </a:ext>
            </a:extLst>
          </p:cNvPr>
          <p:cNvCxnSpPr>
            <a:cxnSpLocks/>
          </p:cNvCxnSpPr>
          <p:nvPr/>
        </p:nvCxnSpPr>
        <p:spPr>
          <a:xfrm>
            <a:off x="6265233" y="1634701"/>
            <a:ext cx="400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62F9ACF-4AD3-77BD-558B-D35DE0D8C1BC}"/>
              </a:ext>
            </a:extLst>
          </p:cNvPr>
          <p:cNvCxnSpPr>
            <a:cxnSpLocks/>
          </p:cNvCxnSpPr>
          <p:nvPr/>
        </p:nvCxnSpPr>
        <p:spPr>
          <a:xfrm>
            <a:off x="4884856" y="1625167"/>
            <a:ext cx="400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908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41C3F-DCA7-2BB3-1E00-9E6E788E6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986B013-D7DF-3AF5-0332-6B2F483132CB}"/>
              </a:ext>
            </a:extLst>
          </p:cNvPr>
          <p:cNvGrpSpPr/>
          <p:nvPr/>
        </p:nvGrpSpPr>
        <p:grpSpPr>
          <a:xfrm>
            <a:off x="755128" y="950586"/>
            <a:ext cx="10423217" cy="5141340"/>
            <a:chOff x="755128" y="950586"/>
            <a:chExt cx="10423217" cy="5141340"/>
          </a:xfrm>
        </p:grpSpPr>
        <p:sp>
          <p:nvSpPr>
            <p:cNvPr id="1051" name="Rounded Rectangle 1050">
              <a:extLst>
                <a:ext uri="{FF2B5EF4-FFF2-40B4-BE49-F238E27FC236}">
                  <a16:creationId xmlns:a16="http://schemas.microsoft.com/office/drawing/2014/main" id="{72FC8C25-BC7F-C793-F745-EFCB640FE2C8}"/>
                </a:ext>
              </a:extLst>
            </p:cNvPr>
            <p:cNvSpPr/>
            <p:nvPr/>
          </p:nvSpPr>
          <p:spPr>
            <a:xfrm>
              <a:off x="7081234" y="5096063"/>
              <a:ext cx="1482815" cy="995863"/>
            </a:xfrm>
            <a:prstGeom prst="round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endParaRPr>
            </a:p>
          </p:txBody>
        </p:sp>
        <p:sp>
          <p:nvSpPr>
            <p:cNvPr id="1048" name="Rounded Rectangle 1047">
              <a:extLst>
                <a:ext uri="{FF2B5EF4-FFF2-40B4-BE49-F238E27FC236}">
                  <a16:creationId xmlns:a16="http://schemas.microsoft.com/office/drawing/2014/main" id="{F8BC8246-193B-9CFB-CEA3-AB3F6525CDDD}"/>
                </a:ext>
              </a:extLst>
            </p:cNvPr>
            <p:cNvSpPr/>
            <p:nvPr/>
          </p:nvSpPr>
          <p:spPr>
            <a:xfrm>
              <a:off x="7081234" y="3964460"/>
              <a:ext cx="1482815" cy="995863"/>
            </a:xfrm>
            <a:prstGeom prst="round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endParaRPr>
            </a:p>
          </p:txBody>
        </p:sp>
        <p:sp>
          <p:nvSpPr>
            <p:cNvPr id="182" name="Rounded Rectangle 181">
              <a:extLst>
                <a:ext uri="{FF2B5EF4-FFF2-40B4-BE49-F238E27FC236}">
                  <a16:creationId xmlns:a16="http://schemas.microsoft.com/office/drawing/2014/main" id="{F0439A7F-6812-D971-F389-95C059955B4B}"/>
                </a:ext>
              </a:extLst>
            </p:cNvPr>
            <p:cNvSpPr/>
            <p:nvPr/>
          </p:nvSpPr>
          <p:spPr>
            <a:xfrm>
              <a:off x="9432324" y="1064049"/>
              <a:ext cx="1499287" cy="5027877"/>
            </a:xfrm>
            <a:prstGeom prst="roundRect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8F695777-B97A-A609-370F-32CE2DF0257C}"/>
                </a:ext>
              </a:extLst>
            </p:cNvPr>
            <p:cNvSpPr/>
            <p:nvPr/>
          </p:nvSpPr>
          <p:spPr>
            <a:xfrm>
              <a:off x="1067608" y="1191056"/>
              <a:ext cx="3847065" cy="85004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1E15B84A-3C6E-108F-5973-85C4B2DD1F53}"/>
                </a:ext>
              </a:extLst>
            </p:cNvPr>
            <p:cNvSpPr/>
            <p:nvPr/>
          </p:nvSpPr>
          <p:spPr>
            <a:xfrm>
              <a:off x="3032907" y="2497245"/>
              <a:ext cx="1253965" cy="708229"/>
            </a:xfrm>
            <a:prstGeom prst="parallelogram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comment text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3618DC-E886-3159-410E-7B4D6ECC95E0}"/>
                </a:ext>
              </a:extLst>
            </p:cNvPr>
            <p:cNvSpPr/>
            <p:nvPr/>
          </p:nvSpPr>
          <p:spPr>
            <a:xfrm>
              <a:off x="9643262" y="5096063"/>
              <a:ext cx="1102679" cy="788229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ysClr val="windowText" lastClr="000000"/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socioeconomic variables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AB2B57EF-1444-79FE-BAA0-17299102BFFF}"/>
                </a:ext>
              </a:extLst>
            </p:cNvPr>
            <p:cNvSpPr/>
            <p:nvPr/>
          </p:nvSpPr>
          <p:spPr>
            <a:xfrm>
              <a:off x="9625596" y="1248059"/>
              <a:ext cx="1120345" cy="714460"/>
            </a:xfrm>
            <a:prstGeom prst="parallelogram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ysClr val="windowText" lastClr="000000"/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topics</a:t>
              </a:r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E96EFACC-C670-8021-35DF-1BE5B95A3C1C}"/>
                </a:ext>
              </a:extLst>
            </p:cNvPr>
            <p:cNvSpPr/>
            <p:nvPr/>
          </p:nvSpPr>
          <p:spPr>
            <a:xfrm>
              <a:off x="9629381" y="2266347"/>
              <a:ext cx="1102678" cy="657567"/>
            </a:xfrm>
            <a:prstGeom prst="parallelogram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ysClr val="windowText" lastClr="000000"/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sentiment scores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E23944-05E0-BC6B-E001-9554AE099B66}"/>
                </a:ext>
              </a:extLst>
            </p:cNvPr>
            <p:cNvSpPr/>
            <p:nvPr/>
          </p:nvSpPr>
          <p:spPr>
            <a:xfrm>
              <a:off x="8036149" y="2285490"/>
              <a:ext cx="1102678" cy="657567"/>
            </a:xfrm>
            <a:prstGeom prst="rect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sentiment model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C97192-621D-6450-0207-590B2F597244}"/>
                </a:ext>
              </a:extLst>
            </p:cNvPr>
            <p:cNvSpPr/>
            <p:nvPr/>
          </p:nvSpPr>
          <p:spPr>
            <a:xfrm>
              <a:off x="6642573" y="1263739"/>
              <a:ext cx="1120345" cy="714460"/>
            </a:xfrm>
            <a:prstGeom prst="rect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topic model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DFD31A-98E9-17D6-0FE4-F197F34CEB02}"/>
                </a:ext>
              </a:extLst>
            </p:cNvPr>
            <p:cNvSpPr/>
            <p:nvPr/>
          </p:nvSpPr>
          <p:spPr>
            <a:xfrm>
              <a:off x="1171914" y="1304135"/>
              <a:ext cx="1074523" cy="6237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chunk</a:t>
              </a: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4DE0A345-2C32-ABD5-16F2-3154C2E3D683}"/>
                </a:ext>
              </a:extLst>
            </p:cNvPr>
            <p:cNvSpPr/>
            <p:nvPr/>
          </p:nvSpPr>
          <p:spPr>
            <a:xfrm>
              <a:off x="9629381" y="3288682"/>
              <a:ext cx="1102678" cy="637145"/>
            </a:xfrm>
            <a:prstGeom prst="parallelogram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ysClr val="windowText" lastClr="000000"/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co-ordinates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6A4231-33EF-1164-CE2E-ADDD27DB7D0F}"/>
                </a:ext>
              </a:extLst>
            </p:cNvPr>
            <p:cNvSpPr/>
            <p:nvPr/>
          </p:nvSpPr>
          <p:spPr>
            <a:xfrm>
              <a:off x="2364340" y="1309342"/>
              <a:ext cx="1225377" cy="6237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ysClr val="windowText" lastClr="000000"/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generate soft-labelled set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8FA179-6D15-FF6D-1D72-FAB98208CD10}"/>
                </a:ext>
              </a:extLst>
            </p:cNvPr>
            <p:cNvSpPr/>
            <p:nvPr/>
          </p:nvSpPr>
          <p:spPr>
            <a:xfrm>
              <a:off x="3703502" y="1304135"/>
              <a:ext cx="1074523" cy="6237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ysClr val="windowText" lastClr="000000"/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train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6CA328-8B7B-9743-CC35-DF0F9720A948}"/>
                </a:ext>
              </a:extLst>
            </p:cNvPr>
            <p:cNvSpPr txBox="1"/>
            <p:nvPr/>
          </p:nvSpPr>
          <p:spPr>
            <a:xfrm>
              <a:off x="1022022" y="950586"/>
              <a:ext cx="1066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weak learning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A6F3CA0A-0044-49C7-E349-C7A8794C6451}"/>
                </a:ext>
              </a:extLst>
            </p:cNvPr>
            <p:cNvSpPr/>
            <p:nvPr/>
          </p:nvSpPr>
          <p:spPr>
            <a:xfrm>
              <a:off x="802583" y="2538086"/>
              <a:ext cx="1482815" cy="995863"/>
            </a:xfrm>
            <a:prstGeom prst="round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B473F1A-A7D3-703E-5EF8-139918F52789}"/>
                </a:ext>
              </a:extLst>
            </p:cNvPr>
            <p:cNvSpPr txBox="1"/>
            <p:nvPr/>
          </p:nvSpPr>
          <p:spPr>
            <a:xfrm>
              <a:off x="755128" y="2530996"/>
              <a:ext cx="1554750" cy="88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community </a:t>
              </a:r>
            </a:p>
            <a:p>
              <a:pPr algn="ctr">
                <a:lnSpc>
                  <a:spcPct val="150000"/>
                </a:lnSpc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comments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B065FBD-82CD-8C54-7342-80D8C25AE7D0}"/>
                </a:ext>
              </a:extLst>
            </p:cNvPr>
            <p:cNvSpPr txBox="1"/>
            <p:nvPr/>
          </p:nvSpPr>
          <p:spPr>
            <a:xfrm>
              <a:off x="755128" y="2734938"/>
              <a:ext cx="15547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>
                  <a:solidFill>
                    <a:srgbClr val="F657C9"/>
                  </a:solidFill>
                  <a:latin typeface="AngsanaUPC" panose="020B0604020202020204" pitchFamily="34" charset="0"/>
                  <a:cs typeface="AngsanaUPC" panose="020B0604020202020204" pitchFamily="34" charset="0"/>
                </a:rPr>
                <a:t>web-scraped</a:t>
              </a:r>
              <a:endParaRPr lang="en-US" sz="2800" dirty="0">
                <a:solidFill>
                  <a:srgbClr val="F657C9"/>
                </a:solidFill>
              </a:endParaRPr>
            </a:p>
          </p:txBody>
        </p:sp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6EC5B966-4B1E-1B55-5571-9EAF9BBD90C8}"/>
                </a:ext>
              </a:extLst>
            </p:cNvPr>
            <p:cNvCxnSpPr>
              <a:cxnSpLocks/>
              <a:endCxn id="12" idx="5"/>
            </p:cNvCxnSpPr>
            <p:nvPr/>
          </p:nvCxnSpPr>
          <p:spPr>
            <a:xfrm>
              <a:off x="2258263" y="3185885"/>
              <a:ext cx="7450761" cy="421370"/>
            </a:xfrm>
            <a:prstGeom prst="bentConnector3">
              <a:avLst>
                <a:gd name="adj1" fmla="val 664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6" name="Picture 65" descr="A logo with colorful dots and lines&#10;&#10;AI-generated content may be incorrect.">
              <a:extLst>
                <a:ext uri="{FF2B5EF4-FFF2-40B4-BE49-F238E27FC236}">
                  <a16:creationId xmlns:a16="http://schemas.microsoft.com/office/drawing/2014/main" id="{1A94A341-5EA2-AB6D-6FFF-D2DA369A9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2746" y="4069040"/>
              <a:ext cx="1256270" cy="802617"/>
            </a:xfrm>
            <a:prstGeom prst="rect">
              <a:avLst/>
            </a:prstGeom>
            <a:ln>
              <a:noFill/>
            </a:ln>
          </p:spPr>
        </p:pic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CC18D1E-C20D-7FAA-A82D-D42B04E38358}"/>
                </a:ext>
              </a:extLst>
            </p:cNvPr>
            <p:cNvSpPr/>
            <p:nvPr/>
          </p:nvSpPr>
          <p:spPr>
            <a:xfrm>
              <a:off x="8036149" y="1265546"/>
              <a:ext cx="1120345" cy="714460"/>
            </a:xfrm>
            <a:prstGeom prst="rect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manual topic reduction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C61548D-E8E8-F2A8-BFCD-00A0F2BCC975}"/>
                </a:ext>
              </a:extLst>
            </p:cNvPr>
            <p:cNvSpPr/>
            <p:nvPr/>
          </p:nvSpPr>
          <p:spPr>
            <a:xfrm>
              <a:off x="9643263" y="4212485"/>
              <a:ext cx="1102678" cy="637145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ysClr val="windowText" lastClr="000000"/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details of planning application</a:t>
              </a:r>
            </a:p>
          </p:txBody>
        </p:sp>
        <p:sp>
          <p:nvSpPr>
            <p:cNvPr id="139" name="Parallelogram 138">
              <a:extLst>
                <a:ext uri="{FF2B5EF4-FFF2-40B4-BE49-F238E27FC236}">
                  <a16:creationId xmlns:a16="http://schemas.microsoft.com/office/drawing/2014/main" id="{F46EE9B6-A121-3ABC-C7DA-CC10EA431C7C}"/>
                </a:ext>
              </a:extLst>
            </p:cNvPr>
            <p:cNvSpPr/>
            <p:nvPr/>
          </p:nvSpPr>
          <p:spPr>
            <a:xfrm>
              <a:off x="2428492" y="4163944"/>
              <a:ext cx="1286396" cy="719883"/>
            </a:xfrm>
            <a:prstGeom prst="parallelogram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planning application IDs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F7ACCCE3-CEAA-654B-1477-4A5E0CD9DC17}"/>
                </a:ext>
              </a:extLst>
            </p:cNvPr>
            <p:cNvSpPr/>
            <p:nvPr/>
          </p:nvSpPr>
          <p:spPr>
            <a:xfrm>
              <a:off x="985662" y="4233517"/>
              <a:ext cx="1102678" cy="637145"/>
            </a:xfrm>
            <a:prstGeom prst="rect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web-scraping pipeline</a:t>
              </a:r>
            </a:p>
          </p:txBody>
        </p:sp>
        <p:pic>
          <p:nvPicPr>
            <p:cNvPr id="1026" name="Picture 2" descr="2021–2022 United Kingdom censuses - Wikipedia">
              <a:extLst>
                <a:ext uri="{FF2B5EF4-FFF2-40B4-BE49-F238E27FC236}">
                  <a16:creationId xmlns:a16="http://schemas.microsoft.com/office/drawing/2014/main" id="{59C1413F-712E-DE78-B7FE-218579C1A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3728" y="5370563"/>
              <a:ext cx="1123349" cy="443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4CA89BEB-91FC-6F5A-B511-C03F09E22CBF}"/>
                </a:ext>
              </a:extLst>
            </p:cNvPr>
            <p:cNvCxnSpPr>
              <a:cxnSpLocks/>
              <a:stCxn id="1036" idx="0"/>
              <a:endCxn id="172" idx="1"/>
            </p:cNvCxnSpPr>
            <p:nvPr/>
          </p:nvCxnSpPr>
          <p:spPr>
            <a:xfrm rot="16200000" flipV="1">
              <a:off x="2650466" y="33222"/>
              <a:ext cx="908716" cy="4074432"/>
            </a:xfrm>
            <a:prstGeom prst="bentConnector4">
              <a:avLst>
                <a:gd name="adj1" fmla="val 26614"/>
                <a:gd name="adj2" fmla="val 105611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84A10EB-74CA-2371-61D5-991C7EC19409}"/>
                </a:ext>
              </a:extLst>
            </p:cNvPr>
            <p:cNvSpPr txBox="1"/>
            <p:nvPr/>
          </p:nvSpPr>
          <p:spPr>
            <a:xfrm rot="16200000">
              <a:off x="10056864" y="4913522"/>
              <a:ext cx="19659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variables used in analysis</a:t>
              </a: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8D2F0EB0-DEAA-BD18-0196-E80E4B12C9D2}"/>
                </a:ext>
              </a:extLst>
            </p:cNvPr>
            <p:cNvSpPr txBox="1"/>
            <p:nvPr/>
          </p:nvSpPr>
          <p:spPr>
            <a:xfrm>
              <a:off x="7082733" y="1064050"/>
              <a:ext cx="7601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BERTopic</a:t>
              </a:r>
            </a:p>
          </p:txBody>
        </p: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73982C3C-012E-1FCA-3670-13471D7DC635}"/>
                </a:ext>
              </a:extLst>
            </p:cNvPr>
            <p:cNvSpPr txBox="1"/>
            <p:nvPr/>
          </p:nvSpPr>
          <p:spPr>
            <a:xfrm>
              <a:off x="8036149" y="2094510"/>
              <a:ext cx="11368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All-MiniLM-L6-v2</a:t>
              </a:r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E2C589FC-DB35-4178-E647-A890100B251F}"/>
                </a:ext>
              </a:extLst>
            </p:cNvPr>
            <p:cNvSpPr/>
            <p:nvPr/>
          </p:nvSpPr>
          <p:spPr>
            <a:xfrm>
              <a:off x="4590701" y="2524796"/>
              <a:ext cx="1102678" cy="657567"/>
            </a:xfrm>
            <a:prstGeom prst="rect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remove names and addresses</a:t>
              </a:r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E3B307D8-D899-6D4E-CA8B-03ECA373697D}"/>
                </a:ext>
              </a:extLst>
            </p:cNvPr>
            <p:cNvSpPr txBox="1"/>
            <p:nvPr/>
          </p:nvSpPr>
          <p:spPr>
            <a:xfrm>
              <a:off x="5340573" y="2341099"/>
              <a:ext cx="4363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NER</a:t>
              </a:r>
            </a:p>
          </p:txBody>
        </p:sp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F136AB36-8FC7-5D16-4B80-A0E363AC7F30}"/>
                </a:ext>
              </a:extLst>
            </p:cNvPr>
            <p:cNvSpPr/>
            <p:nvPr/>
          </p:nvSpPr>
          <p:spPr>
            <a:xfrm>
              <a:off x="5134753" y="1252042"/>
              <a:ext cx="1253965" cy="708229"/>
            </a:xfrm>
            <a:prstGeom prst="parallelogram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CMU Sans Serif Medium" panose="02000603000000000000" pitchFamily="2" charset="0"/>
                  <a:ea typeface="CMU Sans Serif Medium" panose="02000603000000000000" pitchFamily="2" charset="0"/>
                  <a:cs typeface="CMU Sans Serif Medium" panose="02000603000000000000" pitchFamily="2" charset="0"/>
                </a:rPr>
                <a:t>fine-tuned sentence transformer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FA20A97-4BDA-2343-D3F7-C7B7451C27D6}"/>
                </a:ext>
              </a:extLst>
            </p:cNvPr>
            <p:cNvCxnSpPr>
              <a:cxnSpLocks/>
            </p:cNvCxnSpPr>
            <p:nvPr/>
          </p:nvCxnSpPr>
          <p:spPr>
            <a:xfrm>
              <a:off x="8564049" y="4523886"/>
              <a:ext cx="103960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BCF944B-06A7-3CEF-A648-F1EFA1951927}"/>
                </a:ext>
              </a:extLst>
            </p:cNvPr>
            <p:cNvCxnSpPr>
              <a:cxnSpLocks/>
            </p:cNvCxnSpPr>
            <p:nvPr/>
          </p:nvCxnSpPr>
          <p:spPr>
            <a:xfrm>
              <a:off x="8573557" y="5492007"/>
              <a:ext cx="103960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BB300EB-342A-64A9-9020-8FABF8E4E9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0143" y="4523886"/>
              <a:ext cx="34641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2824424-87D6-511C-CE51-F12F0F6C97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2512" y="4531058"/>
              <a:ext cx="4860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3E7BCDF-770B-4F6D-9F75-25C94065AB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001" y="3533949"/>
              <a:ext cx="0" cy="7189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995403B-D2EB-3345-F585-AD7B9AC48817}"/>
                </a:ext>
              </a:extLst>
            </p:cNvPr>
            <p:cNvCxnSpPr/>
            <p:nvPr/>
          </p:nvCxnSpPr>
          <p:spPr>
            <a:xfrm>
              <a:off x="2285398" y="2820788"/>
              <a:ext cx="83978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A8E06EE-08C8-6AF8-2420-52226C4AD400}"/>
                </a:ext>
              </a:extLst>
            </p:cNvPr>
            <p:cNvCxnSpPr>
              <a:cxnSpLocks/>
            </p:cNvCxnSpPr>
            <p:nvPr/>
          </p:nvCxnSpPr>
          <p:spPr>
            <a:xfrm>
              <a:off x="4189823" y="2829225"/>
              <a:ext cx="4008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50EEC755-84A5-D393-CF93-3465A8F73A82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5664854" y="1978199"/>
              <a:ext cx="1537892" cy="705523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F670534-826B-F9BC-C7EC-634A73E79110}"/>
                </a:ext>
              </a:extLst>
            </p:cNvPr>
            <p:cNvCxnSpPr>
              <a:cxnSpLocks/>
            </p:cNvCxnSpPr>
            <p:nvPr/>
          </p:nvCxnSpPr>
          <p:spPr>
            <a:xfrm>
              <a:off x="5664854" y="2606163"/>
              <a:ext cx="242850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89B2818-C376-1A4B-06AE-4FBC195E58BA}"/>
                </a:ext>
              </a:extLst>
            </p:cNvPr>
            <p:cNvCxnSpPr>
              <a:cxnSpLocks/>
            </p:cNvCxnSpPr>
            <p:nvPr/>
          </p:nvCxnSpPr>
          <p:spPr>
            <a:xfrm>
              <a:off x="9123364" y="2609414"/>
              <a:ext cx="6179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FC29CD0-73B4-9A13-110E-5100198362D1}"/>
                </a:ext>
              </a:extLst>
            </p:cNvPr>
            <p:cNvCxnSpPr>
              <a:cxnSpLocks/>
            </p:cNvCxnSpPr>
            <p:nvPr/>
          </p:nvCxnSpPr>
          <p:spPr>
            <a:xfrm>
              <a:off x="9123364" y="1659985"/>
              <a:ext cx="6179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0F85562-F232-DFA8-FFB2-5DF6C2EBF662}"/>
                </a:ext>
              </a:extLst>
            </p:cNvPr>
            <p:cNvCxnSpPr>
              <a:cxnSpLocks/>
            </p:cNvCxnSpPr>
            <p:nvPr/>
          </p:nvCxnSpPr>
          <p:spPr>
            <a:xfrm>
              <a:off x="7699911" y="1634701"/>
              <a:ext cx="4008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D99F227-ACD9-2705-393A-7A16978209CA}"/>
                </a:ext>
              </a:extLst>
            </p:cNvPr>
            <p:cNvCxnSpPr>
              <a:cxnSpLocks/>
            </p:cNvCxnSpPr>
            <p:nvPr/>
          </p:nvCxnSpPr>
          <p:spPr>
            <a:xfrm>
              <a:off x="6265233" y="1634701"/>
              <a:ext cx="4008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DEDA40B-31F3-5689-02B4-5BA61C392EC7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56" y="1625167"/>
              <a:ext cx="40087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9362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96</Words>
  <Application>Microsoft Macintosh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AngsanaUPC</vt:lpstr>
      <vt:lpstr>Aptos</vt:lpstr>
      <vt:lpstr>Aptos Display</vt:lpstr>
      <vt:lpstr>Arial</vt:lpstr>
      <vt:lpstr>Calibri</vt:lpstr>
      <vt:lpstr>CMU Sans Serif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Taylor, Beatrice</dc:creator>
  <cp:lastModifiedBy>Taylor, Beatrice</cp:lastModifiedBy>
  <cp:revision>3</cp:revision>
  <dcterms:created xsi:type="dcterms:W3CDTF">2026-01-22T11:01:52Z</dcterms:created>
  <dcterms:modified xsi:type="dcterms:W3CDTF">2026-01-22T12:55:58Z</dcterms:modified>
</cp:coreProperties>
</file>